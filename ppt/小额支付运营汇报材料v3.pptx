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459" r:id="rId2"/>
    <p:sldId id="495" r:id="rId3"/>
    <p:sldId id="486" r:id="rId4"/>
    <p:sldId id="487" r:id="rId5"/>
    <p:sldId id="488" r:id="rId6"/>
    <p:sldId id="489" r:id="rId7"/>
    <p:sldId id="490" r:id="rId8"/>
    <p:sldId id="493" r:id="rId9"/>
    <p:sldId id="516" r:id="rId10"/>
    <p:sldId id="460" r:id="rId11"/>
    <p:sldId id="475" r:id="rId12"/>
    <p:sldId id="511" r:id="rId13"/>
    <p:sldId id="512" r:id="rId14"/>
    <p:sldId id="513" r:id="rId15"/>
    <p:sldId id="517" r:id="rId16"/>
    <p:sldId id="502" r:id="rId17"/>
    <p:sldId id="501" r:id="rId18"/>
    <p:sldId id="518" r:id="rId19"/>
    <p:sldId id="504" r:id="rId20"/>
    <p:sldId id="505" r:id="rId21"/>
    <p:sldId id="506" r:id="rId22"/>
    <p:sldId id="507" r:id="rId23"/>
    <p:sldId id="508" r:id="rId24"/>
    <p:sldId id="519" r:id="rId25"/>
    <p:sldId id="484" r:id="rId26"/>
    <p:sldId id="483" r:id="rId27"/>
    <p:sldId id="476" r:id="rId28"/>
    <p:sldId id="474" r:id="rId29"/>
  </p:sldIdLst>
  <p:sldSz cx="9144000" cy="5715000" type="screen16x10"/>
  <p:notesSz cx="6858000" cy="9144000"/>
  <p:defaultTextStyle>
    <a:defPPr>
      <a:defRPr lang="zh-CN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FF00"/>
    <a:srgbClr val="000000"/>
    <a:srgbClr val="990033"/>
    <a:srgbClr val="E3D88C"/>
    <a:srgbClr val="DA0000"/>
    <a:srgbClr val="C00000"/>
    <a:srgbClr val="993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86232" autoAdjust="0"/>
  </p:normalViewPr>
  <p:slideViewPr>
    <p:cSldViewPr snapToGrid="0" snapToObjects="1">
      <p:cViewPr>
        <p:scale>
          <a:sx n="80" d="100"/>
          <a:sy n="80" d="100"/>
        </p:scale>
        <p:origin x="-1056" y="-60"/>
      </p:cViewPr>
      <p:guideLst>
        <p:guide orient="horz" pos="1127"/>
        <p:guide pos="294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6"/>
    </p:cViewPr>
  </p:sorterViewPr>
  <p:notesViewPr>
    <p:cSldViewPr snapToGrid="0" snapToObjects="1">
      <p:cViewPr varScale="1">
        <p:scale>
          <a:sx n="64" d="100"/>
          <a:sy n="64" d="100"/>
        </p:scale>
        <p:origin x="-2082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1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1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BE02627-2092-4803-9A7E-016D78B86190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1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1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282685-2EA0-49BE-9ABB-2076B9A9531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D3BA227-77FE-4445-8E2F-D19756EDA45F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2241E38-BA41-4EF5-AA2F-17646D8B198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F82D5034-8A5B-4240-AD89-C95E27048560}" type="slidenum">
              <a:rPr lang="en-US" altLang="zh-CN" smtClean="0"/>
              <a:pPr>
                <a:defRPr/>
              </a:pPr>
              <a:t>1</a:t>
            </a:fld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9A2D43C4-CC4F-4F70-B5D3-4F01DADD421D}" type="slidenum">
              <a:rPr lang="en-US" altLang="zh-CN" smtClean="0"/>
              <a:pPr>
                <a:defRPr/>
              </a:pPr>
              <a:t>16</a:t>
            </a:fld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C78B0102-96F8-44F7-9717-8B103F84D845}" type="slidenum">
              <a:rPr lang="en-US" altLang="zh-CN" smtClean="0"/>
              <a:pPr>
                <a:defRPr/>
              </a:pPr>
              <a:t>17</a:t>
            </a:fld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1A265C99-A850-4B72-AB46-D5C9493CBFDE}" type="slidenum">
              <a:rPr lang="en-US" altLang="zh-CN" smtClean="0"/>
              <a:pPr>
                <a:defRPr/>
              </a:pPr>
              <a:t>18</a:t>
            </a:fld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1A274F56-A06F-4E02-B740-F91C0C5FB681}" type="slidenum">
              <a:rPr lang="en-US" altLang="zh-CN" smtClean="0"/>
              <a:pPr>
                <a:defRPr/>
              </a:pPr>
              <a:t>19</a:t>
            </a:fld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 b="1" smtClean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5EB9A958-BEBB-47B7-93B5-1E3622C39431}" type="slidenum">
              <a:rPr lang="en-US" altLang="zh-CN" smtClean="0"/>
              <a:pPr>
                <a:defRPr/>
              </a:pPr>
              <a:t>20</a:t>
            </a:fld>
            <a:endParaRPr 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E7DB9129-4F78-4FAC-AB8B-DBC5CF4E9A3C}" type="slidenum">
              <a:rPr lang="en-US" altLang="zh-CN" smtClean="0"/>
              <a:pPr>
                <a:defRPr/>
              </a:pPr>
              <a:t>22</a:t>
            </a:fld>
            <a:endParaRPr 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0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D9C05AB5-02C1-439F-968C-43836C783666}" type="slidenum">
              <a:rPr lang="en-US" altLang="zh-CN" smtClean="0"/>
              <a:pPr>
                <a:defRPr/>
              </a:pPr>
              <a:t>23</a:t>
            </a:fld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3449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34A91F-6D14-4EF9-8FED-A66401500F96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8" descr="PPT模板-05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175" y="0"/>
            <a:ext cx="913765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7043738" y="5046663"/>
            <a:ext cx="2100262" cy="66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C33861-472A-4733-B830-5F1EB7FCE505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0AD91-E8FC-4CD4-958E-5C91AE15DB8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8" descr="PPT模板-05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175" y="0"/>
            <a:ext cx="913765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1BD3F9-173F-4293-9F12-94658302B1B4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D4789F-1240-45F8-A7FF-C30871C92AC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核心价值观（透明）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780213" y="227013"/>
            <a:ext cx="21812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7"/>
          <p:cNvSpPr/>
          <p:nvPr userDrawn="1"/>
        </p:nvSpPr>
        <p:spPr>
          <a:xfrm>
            <a:off x="0" y="731838"/>
            <a:ext cx="9144000" cy="448627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659CDF-57B5-453C-9AE7-2B55BD264764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9662B-3616-4D39-9E22-37F0F2FC73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881575-8EFA-496D-8807-E2BC6D8A6579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0F076-4308-4148-995F-06D6F23544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4D8DB-7BA6-4829-94B5-9B0960594E6B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3E993-344F-47F8-BB68-C971E1DF6C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731838"/>
            <a:ext cx="9144000" cy="448627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0AD0D9-D197-4F69-9A7E-01C8EDFE2FB5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90A879-27B1-4343-B00E-F33ECBAF532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5"/>
          <p:cNvSpPr/>
          <p:nvPr userDrawn="1"/>
        </p:nvSpPr>
        <p:spPr>
          <a:xfrm>
            <a:off x="0" y="731838"/>
            <a:ext cx="9144000" cy="448627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C9B01-68B5-43A6-9BD1-B791E17AEC51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E51779-685B-413F-8DE4-B3F309F37B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/>
          <p:cNvSpPr/>
          <p:nvPr userDrawn="1"/>
        </p:nvSpPr>
        <p:spPr>
          <a:xfrm>
            <a:off x="0" y="731838"/>
            <a:ext cx="9144000" cy="448627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45A66E-5F82-47BA-A2D9-B51EE556EB25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8BCCFD-12C3-4A06-BB0D-F570004C5B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AD0813-9565-4E16-A851-E57BE1B60F98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E8563-46AC-4CA6-89F3-BFF83B8F4BB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1E297E-4479-4D58-A87F-199EAFB2B721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59ED06-B070-46EE-8340-11A778A8FD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23E17-1678-4E87-9BF2-A55A4FE9B539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0A1BC6-63CD-4677-B8EB-AD2E8062D35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4064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4064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B3F77-B0E0-4066-8A0B-63637F4538ED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42E203-2C9C-4C4F-9BF2-A26F5584E6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603500"/>
            <a:ext cx="6477000" cy="2264833"/>
          </a:xfrm>
        </p:spPr>
        <p:txBody>
          <a:bodyPr rtlCol="0" anchor="b"/>
          <a:lstStyle>
            <a:lvl1pPr eaLnBrk="1" latinLnBrk="0" hangingPunct="1">
              <a:defRPr kumimoji="0" lang="zh-CN" cap="all" baseline="0"/>
            </a:lvl1pPr>
            <a:extLst/>
          </a:lstStyle>
          <a:p>
            <a:r>
              <a:rPr lang="zh-CN" altLang="en-US" smtClean="0"/>
              <a:t>单击此处编辑母版标题样式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zh-CN" altLang="en-US" dirty="0" smtClean="0"/>
              <a:t>单击此处编辑母版标题样式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502833"/>
            <a:ext cx="8153400" cy="3640667"/>
          </a:xfrm>
        </p:spPr>
        <p:txBody>
          <a:bodyPr/>
          <a:lstStyle>
            <a:extLst/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kumimoji="0"/>
            </a:lvl1pPr>
            <a:extLst/>
          </a:lstStyle>
          <a:p>
            <a:pPr>
              <a:defRPr/>
            </a:pPr>
            <a:endParaRPr lang="zh-CN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5"/>
          </p:nvPr>
        </p:nvSpPr>
        <p:spPr>
          <a:xfrm>
            <a:off x="0" y="1247775"/>
            <a:ext cx="533400" cy="204788"/>
          </a:xfrm>
        </p:spPr>
        <p:txBody>
          <a:bodyPr/>
          <a:lstStyle>
            <a:lvl1pPr algn="ctr">
              <a:defRPr kumimoji="0" sz="1400" b="1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546CD98E-C9D8-427F-8D6B-4FBD2A3335BA}" type="slidenum">
              <a:rPr lang="en-US" altLang="zh-CN"/>
              <a:pPr>
                <a:defRPr/>
              </a:pPr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333500"/>
            <a:ext cx="8229600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089A7C3-F063-4775-851D-F50B621B1587}" type="datetimeFigureOut">
              <a:rPr lang="zh-CN" altLang="en-US"/>
              <a:pPr>
                <a:defRPr/>
              </a:pPr>
              <a:t>2013/7/30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7488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82FE584-71AD-4FDB-AC4E-EF2C9161F5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31" name="内容占位符 5" descr="1.jpg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0" y="0"/>
            <a:ext cx="9144000" cy="572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2"/>
          <p:cNvPicPr>
            <a:picLocks noChangeAspect="1" noChangeArrowheads="1"/>
          </p:cNvPicPr>
          <p:nvPr userDrawn="1"/>
        </p:nvPicPr>
        <p:blipFill>
          <a:blip r:embed="rId17"/>
          <a:srcRect/>
          <a:stretch>
            <a:fillRect/>
          </a:stretch>
        </p:blipFill>
        <p:spPr bwMode="auto">
          <a:xfrm>
            <a:off x="7043738" y="5046663"/>
            <a:ext cx="2100262" cy="66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2" r:id="rId4"/>
    <p:sldLayoutId id="2147483661" r:id="rId5"/>
    <p:sldLayoutId id="2147483666" r:id="rId6"/>
    <p:sldLayoutId id="2147483667" r:id="rId7"/>
    <p:sldLayoutId id="2147483668" r:id="rId8"/>
    <p:sldLayoutId id="2147483660" r:id="rId9"/>
    <p:sldLayoutId id="2147483659" r:id="rId10"/>
    <p:sldLayoutId id="2147483658" r:id="rId11"/>
    <p:sldLayoutId id="2147483657" r:id="rId12"/>
    <p:sldLayoutId id="2147483669" r:id="rId13"/>
    <p:sldLayoutId id="2147483670" r:id="rId14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jpe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11" Type="http://schemas.openxmlformats.org/officeDocument/2006/relationships/hyperlink" Target="http://www.lierda.com/home/index.html" TargetMode="External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hyperlink" Target="http://read.10086.cn/index" TargetMode="External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397000"/>
            <a:ext cx="7772400" cy="1882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手机小额支付平台运营方案</a:t>
            </a:r>
            <a:endParaRPr lang="zh-CN" altLang="en-US" sz="6000" b="1" dirty="0">
              <a:effectLst>
                <a:outerShdw blurRad="38100" dist="38100" dir="2700000" algn="tl">
                  <a:srgbClr val="C0C0C0"/>
                </a:outerShdw>
              </a:effectLst>
              <a:ea typeface="黑体" pitchFamily="49" charset="-122"/>
            </a:endParaRPr>
          </a:p>
        </p:txBody>
      </p:sp>
      <p:sp>
        <p:nvSpPr>
          <p:cNvPr id="3" name="标题 1"/>
          <p:cNvSpPr txBox="1">
            <a:spLocks/>
          </p:cNvSpPr>
          <p:nvPr/>
        </p:nvSpPr>
        <p:spPr bwMode="auto">
          <a:xfrm>
            <a:off x="4637088" y="3683000"/>
            <a:ext cx="4198937" cy="8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itchFamily="49" charset="-122"/>
                <a:cs typeface="+mj-cs"/>
              </a:rPr>
              <a:t>杭州冉思科技有限公司</a:t>
            </a:r>
            <a:endParaRPr lang="zh-CN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黑体" pitchFamily="49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1" name="Group 38"/>
          <p:cNvGrpSpPr>
            <a:grpSpLocks/>
          </p:cNvGrpSpPr>
          <p:nvPr/>
        </p:nvGrpSpPr>
        <p:grpSpPr bwMode="auto">
          <a:xfrm>
            <a:off x="1474788" y="830263"/>
            <a:ext cx="1874837" cy="771525"/>
            <a:chOff x="974" y="1344"/>
            <a:chExt cx="1181" cy="486"/>
          </a:xfrm>
        </p:grpSpPr>
        <p:pic>
          <p:nvPicPr>
            <p:cNvPr id="20507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第一部分</a:t>
              </a:r>
            </a:p>
          </p:txBody>
        </p:sp>
      </p:grpSp>
      <p:grpSp>
        <p:nvGrpSpPr>
          <p:cNvPr id="20482" name="Group 43"/>
          <p:cNvGrpSpPr>
            <a:grpSpLocks/>
          </p:cNvGrpSpPr>
          <p:nvPr/>
        </p:nvGrpSpPr>
        <p:grpSpPr bwMode="auto">
          <a:xfrm>
            <a:off x="3562350" y="854075"/>
            <a:ext cx="4033838" cy="747713"/>
            <a:chOff x="2245" y="1348"/>
            <a:chExt cx="2541" cy="471"/>
          </a:xfrm>
        </p:grpSpPr>
        <p:pic>
          <p:nvPicPr>
            <p:cNvPr id="20505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FFFFFF">
                    <a:gamma/>
                    <a:shade val="84706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FFFFFF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92075" algn="ctr">
                <a:buFont typeface="Wingdings" pitchFamily="2" charset="2"/>
                <a:buNone/>
                <a:defRPr/>
              </a:pPr>
              <a:r>
                <a:rPr lang="zh-CN" altLang="en-US" sz="2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冉思科技简介</a:t>
              </a:r>
              <a:endParaRPr lang="zh-CN" alt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483" name="Group 38"/>
          <p:cNvGrpSpPr>
            <a:grpSpLocks/>
          </p:cNvGrpSpPr>
          <p:nvPr/>
        </p:nvGrpSpPr>
        <p:grpSpPr bwMode="auto">
          <a:xfrm>
            <a:off x="1474788" y="1765300"/>
            <a:ext cx="1874837" cy="771525"/>
            <a:chOff x="974" y="1344"/>
            <a:chExt cx="1181" cy="486"/>
          </a:xfrm>
        </p:grpSpPr>
        <p:pic>
          <p:nvPicPr>
            <p:cNvPr id="20503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第二部分</a:t>
              </a:r>
            </a:p>
          </p:txBody>
        </p:sp>
      </p:grpSp>
      <p:grpSp>
        <p:nvGrpSpPr>
          <p:cNvPr id="20484" name="Group 43"/>
          <p:cNvGrpSpPr>
            <a:grpSpLocks/>
          </p:cNvGrpSpPr>
          <p:nvPr/>
        </p:nvGrpSpPr>
        <p:grpSpPr bwMode="auto">
          <a:xfrm>
            <a:off x="3562350" y="1789113"/>
            <a:ext cx="4033838" cy="747712"/>
            <a:chOff x="2245" y="1348"/>
            <a:chExt cx="2541" cy="471"/>
          </a:xfrm>
        </p:grpSpPr>
        <p:pic>
          <p:nvPicPr>
            <p:cNvPr id="20501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</p:pic>
        <p:sp>
          <p:nvSpPr>
            <p:cNvPr id="20502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  <p:txBody>
            <a:bodyPr wrap="none" anchor="ctr"/>
            <a:lstStyle/>
            <a:p>
              <a:pPr marL="92075" algn="ctr"/>
              <a:r>
                <a:rPr lang="zh-CN" altLang="en-US" sz="20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业务背景介绍</a:t>
              </a:r>
            </a:p>
          </p:txBody>
        </p:sp>
      </p:grpSp>
      <p:grpSp>
        <p:nvGrpSpPr>
          <p:cNvPr id="20485" name="Group 38"/>
          <p:cNvGrpSpPr>
            <a:grpSpLocks/>
          </p:cNvGrpSpPr>
          <p:nvPr/>
        </p:nvGrpSpPr>
        <p:grpSpPr bwMode="auto">
          <a:xfrm>
            <a:off x="1473200" y="2630488"/>
            <a:ext cx="1874838" cy="771525"/>
            <a:chOff x="974" y="1344"/>
            <a:chExt cx="1181" cy="486"/>
          </a:xfrm>
        </p:grpSpPr>
        <p:pic>
          <p:nvPicPr>
            <p:cNvPr id="20499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第三部分</a:t>
              </a:r>
            </a:p>
          </p:txBody>
        </p:sp>
      </p:grpSp>
      <p:grpSp>
        <p:nvGrpSpPr>
          <p:cNvPr id="20486" name="Group 43"/>
          <p:cNvGrpSpPr>
            <a:grpSpLocks/>
          </p:cNvGrpSpPr>
          <p:nvPr/>
        </p:nvGrpSpPr>
        <p:grpSpPr bwMode="auto">
          <a:xfrm>
            <a:off x="3560763" y="2654300"/>
            <a:ext cx="4033837" cy="747713"/>
            <a:chOff x="2245" y="1348"/>
            <a:chExt cx="2541" cy="471"/>
          </a:xfrm>
        </p:grpSpPr>
        <p:pic>
          <p:nvPicPr>
            <p:cNvPr id="20497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</p:pic>
        <p:sp>
          <p:nvSpPr>
            <p:cNvPr id="20498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  <p:txBody>
            <a:bodyPr wrap="none" anchor="ctr"/>
            <a:lstStyle/>
            <a:p>
              <a:pPr marL="92075" algn="ctr">
                <a:buFont typeface="Wingdings" pitchFamily="2" charset="2"/>
                <a:buNone/>
              </a:pPr>
              <a:endPara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487" name="Group 38"/>
          <p:cNvGrpSpPr>
            <a:grpSpLocks/>
          </p:cNvGrpSpPr>
          <p:nvPr/>
        </p:nvGrpSpPr>
        <p:grpSpPr bwMode="auto">
          <a:xfrm>
            <a:off x="1473200" y="3441700"/>
            <a:ext cx="1874838" cy="771525"/>
            <a:chOff x="974" y="1344"/>
            <a:chExt cx="1181" cy="486"/>
          </a:xfrm>
        </p:grpSpPr>
        <p:pic>
          <p:nvPicPr>
            <p:cNvPr id="20495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第四部分</a:t>
              </a:r>
            </a:p>
          </p:txBody>
        </p:sp>
      </p:grpSp>
      <p:grpSp>
        <p:nvGrpSpPr>
          <p:cNvPr id="20488" name="Group 43"/>
          <p:cNvGrpSpPr>
            <a:grpSpLocks/>
          </p:cNvGrpSpPr>
          <p:nvPr/>
        </p:nvGrpSpPr>
        <p:grpSpPr bwMode="auto">
          <a:xfrm>
            <a:off x="3560763" y="3465513"/>
            <a:ext cx="4033837" cy="747712"/>
            <a:chOff x="2245" y="1348"/>
            <a:chExt cx="2541" cy="471"/>
          </a:xfrm>
        </p:grpSpPr>
        <p:pic>
          <p:nvPicPr>
            <p:cNvPr id="20493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494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  <p:txBody>
            <a:bodyPr wrap="none" anchor="ctr"/>
            <a:lstStyle/>
            <a:p>
              <a:pPr marL="92075" algn="ctr"/>
              <a:r>
                <a:rPr lang="zh-CN" altLang="en-US" sz="20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小额支付运营介绍</a:t>
              </a:r>
            </a:p>
          </p:txBody>
        </p:sp>
      </p:grpSp>
      <p:sp>
        <p:nvSpPr>
          <p:cNvPr id="32" name="右箭头 31"/>
          <p:cNvSpPr/>
          <p:nvPr/>
        </p:nvSpPr>
        <p:spPr>
          <a:xfrm>
            <a:off x="785786" y="845915"/>
            <a:ext cx="576064" cy="627063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0492" name="矩形 34"/>
          <p:cNvSpPr>
            <a:spLocks noChangeArrowheads="1"/>
          </p:cNvSpPr>
          <p:nvPr/>
        </p:nvSpPr>
        <p:spPr bwMode="auto">
          <a:xfrm>
            <a:off x="4414838" y="2774950"/>
            <a:ext cx="23288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92075" algn="ctr"/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小额支付产品介绍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06" name="TextBox 11"/>
          <p:cNvSpPr txBox="1">
            <a:spLocks noChangeArrowheads="1"/>
          </p:cNvSpPr>
          <p:nvPr/>
        </p:nvSpPr>
        <p:spPr bwMode="auto">
          <a:xfrm>
            <a:off x="23813" y="34925"/>
            <a:ext cx="58626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公司简介　　</a:t>
            </a:r>
            <a:r>
              <a:rPr lang="en-US" altLang="zh-CN" sz="2800" b="1">
                <a:solidFill>
                  <a:srgbClr val="990033"/>
                </a:solidFill>
              </a:rPr>
              <a:t>About Our Company</a:t>
            </a:r>
            <a:endParaRPr lang="zh-CN" altLang="en-US" sz="2800" b="1">
              <a:solidFill>
                <a:srgbClr val="990033"/>
              </a:solidFill>
            </a:endParaRPr>
          </a:p>
        </p:txBody>
      </p:sp>
      <p:sp>
        <p:nvSpPr>
          <p:cNvPr id="21507" name="TextBox 12"/>
          <p:cNvSpPr txBox="1">
            <a:spLocks noChangeArrowheads="1"/>
          </p:cNvSpPr>
          <p:nvPr/>
        </p:nvSpPr>
        <p:spPr bwMode="auto">
          <a:xfrm>
            <a:off x="949325" y="2078038"/>
            <a:ext cx="726916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zh-CN" sz="2400" b="1" dirty="0"/>
              <a:t>冉思科技是新一代移动</a:t>
            </a:r>
            <a:r>
              <a:rPr lang="zh-CN" altLang="en-US" sz="2400" b="1" dirty="0"/>
              <a:t>互联网</a:t>
            </a:r>
            <a:r>
              <a:rPr lang="zh-CN" altLang="zh-CN" sz="2400" b="1" dirty="0"/>
              <a:t>支付</a:t>
            </a:r>
            <a:r>
              <a:rPr lang="zh-CN" altLang="en-US" sz="2400" b="1" dirty="0"/>
              <a:t>的</a:t>
            </a:r>
            <a:r>
              <a:rPr lang="zh-CN" altLang="zh-CN" sz="2400" b="1" dirty="0"/>
              <a:t>开发、应用及内容服务提供商，</a:t>
            </a:r>
            <a:r>
              <a:rPr lang="zh-CN" altLang="en-US" sz="2400" b="1" dirty="0"/>
              <a:t>致力于</a:t>
            </a:r>
            <a:r>
              <a:rPr lang="zh-CN" altLang="zh-CN" sz="2400" b="1" dirty="0"/>
              <a:t>为</a:t>
            </a:r>
            <a:r>
              <a:rPr lang="zh-CN" altLang="en-US" sz="2400" b="1" dirty="0"/>
              <a:t>涉及</a:t>
            </a:r>
            <a:r>
              <a:rPr lang="zh-CN" altLang="en-US" sz="2400" b="1" dirty="0"/>
              <a:t>支付领域</a:t>
            </a:r>
            <a:r>
              <a:rPr lang="zh-CN" altLang="en-US" sz="2400" b="1" dirty="0"/>
              <a:t>的各</a:t>
            </a:r>
            <a:r>
              <a:rPr lang="zh-CN" altLang="zh-CN" sz="2400" b="1" dirty="0"/>
              <a:t>行业提供整体解决方案、软件平台和相关服务，主要从事基于</a:t>
            </a:r>
            <a:r>
              <a:rPr lang="zh-CN" altLang="en-US" sz="2400" b="1" dirty="0"/>
              <a:t>支付平台</a:t>
            </a:r>
            <a:r>
              <a:rPr lang="zh-CN" altLang="zh-CN" sz="2400" b="1" dirty="0"/>
              <a:t>的项目开发、</a:t>
            </a:r>
            <a:r>
              <a:rPr lang="zh-CN" altLang="en-US" sz="2400" b="1" dirty="0"/>
              <a:t>软件测试、业务运营</a:t>
            </a:r>
            <a:r>
              <a:rPr lang="zh-CN" altLang="zh-CN" sz="2400" b="1" dirty="0"/>
              <a:t>等。</a:t>
            </a:r>
            <a:endParaRPr lang="en-US" altLang="zh-CN" sz="2400" b="1" dirty="0"/>
          </a:p>
          <a:p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30" name="TextBox 11"/>
          <p:cNvSpPr txBox="1">
            <a:spLocks noChangeArrowheads="1"/>
          </p:cNvSpPr>
          <p:nvPr/>
        </p:nvSpPr>
        <p:spPr bwMode="auto">
          <a:xfrm>
            <a:off x="23813" y="34925"/>
            <a:ext cx="60023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公司定位　　</a:t>
            </a:r>
            <a:r>
              <a:rPr lang="en-US" altLang="zh-CN" sz="2800" b="1">
                <a:solidFill>
                  <a:srgbClr val="990033"/>
                </a:solidFill>
              </a:rPr>
              <a:t>Aim Of The Company</a:t>
            </a:r>
            <a:endParaRPr lang="zh-CN" altLang="en-US" sz="2800" b="1">
              <a:solidFill>
                <a:srgbClr val="990033"/>
              </a:solidFill>
            </a:endParaRPr>
          </a:p>
        </p:txBody>
      </p:sp>
      <p:sp>
        <p:nvSpPr>
          <p:cNvPr id="22531" name="AutoShape 8"/>
          <p:cNvSpPr>
            <a:spLocks noChangeArrowheads="1"/>
          </p:cNvSpPr>
          <p:nvPr/>
        </p:nvSpPr>
        <p:spPr bwMode="auto">
          <a:xfrm>
            <a:off x="1012825" y="1971675"/>
            <a:ext cx="7145338" cy="1511300"/>
          </a:xfrm>
          <a:prstGeom prst="bevel">
            <a:avLst>
              <a:gd name="adj" fmla="val 6773"/>
            </a:avLst>
          </a:prstGeom>
          <a:gradFill rotWithShape="0">
            <a:gsLst>
              <a:gs pos="0">
                <a:srgbClr val="00CCFF"/>
              </a:gs>
              <a:gs pos="100000">
                <a:srgbClr val="005E76"/>
              </a:gs>
            </a:gsLst>
            <a:lin ang="2700000" scaled="1"/>
          </a:gra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 sz="3200"/>
              <a:t>　</a:t>
            </a:r>
            <a:r>
              <a:rPr lang="zh-CN" altLang="en-US" sz="3200" b="1">
                <a:solidFill>
                  <a:srgbClr val="FFFF00"/>
                </a:solidFill>
              </a:rPr>
              <a:t>移动互联网支付交易领域的服务者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54" name="TextBox 11"/>
          <p:cNvSpPr txBox="1">
            <a:spLocks noChangeArrowheads="1"/>
          </p:cNvSpPr>
          <p:nvPr/>
        </p:nvSpPr>
        <p:spPr bwMode="auto">
          <a:xfrm>
            <a:off x="23813" y="34925"/>
            <a:ext cx="43449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企业文化　　</a:t>
            </a:r>
            <a:r>
              <a:rPr lang="en-US" altLang="zh-CN" sz="2800" b="1">
                <a:solidFill>
                  <a:srgbClr val="990033"/>
                </a:solidFill>
              </a:rPr>
              <a:t>Our Culture</a:t>
            </a:r>
            <a:endParaRPr lang="zh-CN" altLang="en-US" sz="2800" b="1">
              <a:solidFill>
                <a:srgbClr val="99003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5651" y="1714542"/>
            <a:ext cx="7825839" cy="2308324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extrusionClr>
                <a:srgbClr val="C00000"/>
              </a:extrusionClr>
            </a:sp3d>
          </a:bodyPr>
          <a:lstStyle/>
          <a:p>
            <a:pPr>
              <a:defRPr/>
            </a:pP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itchFamily="2" charset="-122"/>
                <a:ea typeface="宋体" charset="-122"/>
              </a:rPr>
              <a:t>核心理念：创新　务实　追求卓越</a:t>
            </a:r>
            <a:endParaRPr lang="en-US" altLang="zh-CN" sz="3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彩云" pitchFamily="2" charset="-122"/>
              <a:ea typeface="宋体" charset="-122"/>
            </a:endParaRPr>
          </a:p>
          <a:p>
            <a:pPr>
              <a:defRPr/>
            </a:pPr>
            <a:endParaRPr lang="en-US" altLang="zh-CN" sz="3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彩云" pitchFamily="2" charset="-122"/>
              <a:ea typeface="宋体" charset="-122"/>
            </a:endParaRPr>
          </a:p>
          <a:p>
            <a:pPr>
              <a:lnSpc>
                <a:spcPct val="150000"/>
              </a:lnSpc>
              <a:tabLst>
                <a:tab pos="228600" algn="l"/>
              </a:tabLst>
              <a:defRPr/>
            </a:pP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itchFamily="2" charset="-122"/>
                <a:ea typeface="宋体" charset="-122"/>
              </a:rPr>
              <a:t>公司使命：　　创新改变世界</a:t>
            </a:r>
          </a:p>
          <a:p>
            <a:pPr>
              <a:defRPr/>
            </a:pPr>
            <a:endParaRPr lang="zh-CN" altLang="en-US" sz="3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彩云" pitchFamily="2" charset="-122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78" name="TextBox 11"/>
          <p:cNvSpPr txBox="1">
            <a:spLocks noChangeArrowheads="1"/>
          </p:cNvSpPr>
          <p:nvPr/>
        </p:nvSpPr>
        <p:spPr bwMode="auto">
          <a:xfrm>
            <a:off x="23813" y="34925"/>
            <a:ext cx="46863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业务方向　　</a:t>
            </a:r>
            <a:r>
              <a:rPr lang="en-US" altLang="zh-CN" sz="2800" b="1">
                <a:solidFill>
                  <a:srgbClr val="990033"/>
                </a:solidFill>
              </a:rPr>
              <a:t>Our Business</a:t>
            </a:r>
            <a:endParaRPr lang="zh-CN" altLang="en-US" sz="2800" b="1">
              <a:solidFill>
                <a:srgbClr val="990033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gray">
          <a:xfrm>
            <a:off x="2030413" y="1381125"/>
            <a:ext cx="4359275" cy="3048371"/>
          </a:xfrm>
          <a:prstGeom prst="rect">
            <a:avLst/>
          </a:prstGeom>
          <a:gradFill rotWithShape="1">
            <a:gsLst>
              <a:gs pos="0">
                <a:srgbClr val="002F47"/>
              </a:gs>
              <a:gs pos="50000">
                <a:srgbClr val="006699"/>
              </a:gs>
              <a:gs pos="100000">
                <a:srgbClr val="002F47"/>
              </a:gs>
            </a:gsLst>
            <a:lin ang="18900000" scaled="1"/>
          </a:gradFill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rgbClr val="003D5C"/>
            </a:prstShdw>
          </a:effectLst>
        </p:spPr>
        <p:txBody>
          <a:bodyPr lIns="0" tIns="0" rIns="0" bIns="0"/>
          <a:lstStyle/>
          <a:p>
            <a:pPr eaLnBrk="0" hangingPunct="0"/>
            <a:endParaRPr lang="zh-CN" altLang="en-US"/>
          </a:p>
        </p:txBody>
      </p:sp>
      <p:sp>
        <p:nvSpPr>
          <p:cNvPr id="24580" name="TextBox 5"/>
          <p:cNvSpPr txBox="1">
            <a:spLocks noChangeArrowheads="1"/>
          </p:cNvSpPr>
          <p:nvPr/>
        </p:nvSpPr>
        <p:spPr bwMode="auto">
          <a:xfrm>
            <a:off x="2897188" y="1770063"/>
            <a:ext cx="34925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移动互联网支付</a:t>
            </a:r>
          </a:p>
          <a:p>
            <a:r>
              <a:rPr lang="zh-CN" altLang="en-US" sz="2400" b="1" dirty="0">
                <a:solidFill>
                  <a:schemeClr val="bg1"/>
                </a:solidFill>
              </a:rPr>
              <a:t>行业支付应用</a:t>
            </a:r>
          </a:p>
          <a:p>
            <a:r>
              <a:rPr lang="zh-CN" altLang="en-US" sz="2400" b="1" dirty="0">
                <a:solidFill>
                  <a:schemeClr val="bg1"/>
                </a:solidFill>
              </a:rPr>
              <a:t>行业应用</a:t>
            </a:r>
            <a:r>
              <a:rPr lang="en-US" altLang="zh-CN" sz="2400" b="1" dirty="0">
                <a:solidFill>
                  <a:schemeClr val="bg1"/>
                </a:solidFill>
              </a:rPr>
              <a:t>APP</a:t>
            </a:r>
            <a:r>
              <a:rPr lang="zh-CN" altLang="en-US" sz="2400" b="1" dirty="0">
                <a:solidFill>
                  <a:schemeClr val="bg1"/>
                </a:solidFill>
              </a:rPr>
              <a:t>开发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r>
              <a:rPr lang="zh-CN" altLang="en-US" sz="2400" b="1" dirty="0">
                <a:solidFill>
                  <a:schemeClr val="bg1"/>
                </a:solidFill>
              </a:rPr>
              <a:t>移动工作台平移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r>
              <a:rPr lang="zh-CN" altLang="en-US" sz="2400" b="1" dirty="0" smtClean="0">
                <a:solidFill>
                  <a:schemeClr val="bg1"/>
                </a:solidFill>
              </a:rPr>
              <a:t>业务</a:t>
            </a:r>
            <a:r>
              <a:rPr lang="zh-CN" altLang="en-US" sz="2400" b="1" dirty="0">
                <a:solidFill>
                  <a:schemeClr val="bg1"/>
                </a:solidFill>
              </a:rPr>
              <a:t>支撑运营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r>
              <a:rPr lang="zh-CN" altLang="en-US" sz="2400" b="1" dirty="0">
                <a:solidFill>
                  <a:schemeClr val="bg1"/>
                </a:solidFill>
              </a:rPr>
              <a:t>软件测试服务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02" name="TextBox 11"/>
          <p:cNvSpPr txBox="1">
            <a:spLocks noChangeArrowheads="1"/>
          </p:cNvSpPr>
          <p:nvPr/>
        </p:nvSpPr>
        <p:spPr bwMode="auto">
          <a:xfrm>
            <a:off x="23813" y="34925"/>
            <a:ext cx="59070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技术特点　　</a:t>
            </a:r>
            <a:r>
              <a:rPr lang="en-US" altLang="zh-CN" sz="2800" b="1">
                <a:solidFill>
                  <a:srgbClr val="990033"/>
                </a:solidFill>
              </a:rPr>
              <a:t>Technical Advantage</a:t>
            </a:r>
            <a:endParaRPr lang="zh-CN" altLang="en-US" sz="2800" b="1">
              <a:solidFill>
                <a:srgbClr val="99003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5651" y="1263292"/>
            <a:ext cx="7825839" cy="353943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extrusionClr>
                <a:srgbClr val="C00000"/>
              </a:extrusionClr>
            </a:sp3d>
          </a:bodyPr>
          <a:lstStyle/>
          <a:p>
            <a:pPr>
              <a:defRPr/>
            </a:pPr>
            <a:r>
              <a:rPr lang="zh-CN" altLang="zh-CN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itchFamily="2" charset="-122"/>
                <a:ea typeface="宋体" charset="-122"/>
              </a:rPr>
              <a:t>系统</a:t>
            </a: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itchFamily="2" charset="-122"/>
                <a:ea typeface="宋体" charset="-122"/>
              </a:rPr>
              <a:t>架构</a:t>
            </a:r>
            <a:r>
              <a:rPr lang="zh-CN" altLang="zh-CN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itchFamily="2" charset="-122"/>
                <a:ea typeface="宋体" charset="-122"/>
              </a:rPr>
              <a:t>模块化设计，参数化配置控制</a:t>
            </a:r>
            <a:endParaRPr lang="en-US" altLang="zh-CN" sz="3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彩云" pitchFamily="2" charset="-122"/>
              <a:ea typeface="宋体" charset="-122"/>
            </a:endParaRPr>
          </a:p>
          <a:p>
            <a:pPr>
              <a:defRPr/>
            </a:pPr>
            <a:endParaRPr lang="en-US" altLang="zh-CN" sz="3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彩云" pitchFamily="2" charset="-122"/>
              <a:ea typeface="宋体" charset="-122"/>
            </a:endParaRPr>
          </a:p>
          <a:p>
            <a:pPr>
              <a:defRPr/>
            </a:pP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itchFamily="2" charset="-122"/>
                <a:ea typeface="宋体" charset="-122"/>
              </a:rPr>
              <a:t>融合通讯信息新技术，方便快捷创新性</a:t>
            </a:r>
            <a:endParaRPr lang="en-US" altLang="zh-CN" sz="3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彩云" pitchFamily="2" charset="-122"/>
              <a:ea typeface="宋体" charset="-122"/>
            </a:endParaRPr>
          </a:p>
          <a:p>
            <a:pPr>
              <a:defRPr/>
            </a:pPr>
            <a:endParaRPr lang="zh-CN" altLang="zh-CN" sz="3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彩云" pitchFamily="2" charset="-122"/>
              <a:ea typeface="宋体" charset="-122"/>
            </a:endParaRPr>
          </a:p>
          <a:p>
            <a:pPr>
              <a:defRPr/>
            </a:pP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itchFamily="2" charset="-122"/>
                <a:ea typeface="宋体" charset="-122"/>
              </a:rPr>
              <a:t>数据挖掘和精准营销，商业价值最大化</a:t>
            </a:r>
            <a:endParaRPr lang="en-US" altLang="zh-CN" sz="3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彩云" pitchFamily="2" charset="-122"/>
              <a:ea typeface="宋体" charset="-122"/>
            </a:endParaRPr>
          </a:p>
          <a:p>
            <a:pPr>
              <a:defRPr/>
            </a:pPr>
            <a:endParaRPr lang="en-US" altLang="zh-CN" sz="3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彩云" pitchFamily="2" charset="-122"/>
              <a:ea typeface="宋体" charset="-122"/>
            </a:endParaRPr>
          </a:p>
          <a:p>
            <a:pPr>
              <a:defRPr/>
            </a:pP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itchFamily="2" charset="-122"/>
                <a:ea typeface="宋体" charset="-122"/>
              </a:rPr>
              <a:t>多行业多业务相融合，互换互植利推广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50" name="TextBox 11"/>
          <p:cNvSpPr txBox="1">
            <a:spLocks noChangeArrowheads="1"/>
          </p:cNvSpPr>
          <p:nvPr/>
        </p:nvSpPr>
        <p:spPr bwMode="auto">
          <a:xfrm>
            <a:off x="23813" y="34925"/>
            <a:ext cx="44450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我们的客户　　</a:t>
            </a:r>
            <a:r>
              <a:rPr lang="en-US" altLang="zh-CN" sz="2800" b="1">
                <a:solidFill>
                  <a:srgbClr val="990033"/>
                </a:solidFill>
              </a:rPr>
              <a:t>Our Client</a:t>
            </a:r>
            <a:endParaRPr lang="zh-CN" altLang="en-US" sz="2800" b="1">
              <a:solidFill>
                <a:srgbClr val="990033"/>
              </a:solidFill>
            </a:endParaRPr>
          </a:p>
        </p:txBody>
      </p:sp>
      <p:pic>
        <p:nvPicPr>
          <p:cNvPr id="5" name="Picture 22" descr="12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70125" y="1595438"/>
            <a:ext cx="14462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5" descr="u=1755672997,1081309740&amp;fm=0&amp;gp=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88150" y="1165225"/>
            <a:ext cx="755650" cy="86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3" name="Picture 2" descr="http://read.10086.cn:80/www/images/logo2.jpg">
            <a:hlinkClick r:id="rId4"/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28975" y="4932363"/>
            <a:ext cx="9747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4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543800" y="2301875"/>
            <a:ext cx="11509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5" name="TextBox 14"/>
          <p:cNvSpPr txBox="1">
            <a:spLocks noChangeArrowheads="1"/>
          </p:cNvSpPr>
          <p:nvPr/>
        </p:nvSpPr>
        <p:spPr bwMode="auto">
          <a:xfrm>
            <a:off x="4468813" y="2301875"/>
            <a:ext cx="1876425" cy="33813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 b="1">
                <a:solidFill>
                  <a:srgbClr val="FF0066"/>
                </a:solidFill>
              </a:rPr>
              <a:t>浙江省中小企业局</a:t>
            </a:r>
          </a:p>
        </p:txBody>
      </p:sp>
      <p:pic>
        <p:nvPicPr>
          <p:cNvPr id="27656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572000" y="1243013"/>
            <a:ext cx="1390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7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15950" y="2984500"/>
            <a:ext cx="2112963" cy="62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8" name="Picture 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011363" y="3886200"/>
            <a:ext cx="2562225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9" name="Picture 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465763" y="3886200"/>
            <a:ext cx="2654300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60" name="Picture 2" descr="http://www.lierda.com/images_2010/logo.gif">
            <a:hlinkClick r:id="rId11"/>
          </p:cNvPr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490538" y="1857375"/>
            <a:ext cx="11811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3" name="Group 38"/>
          <p:cNvGrpSpPr>
            <a:grpSpLocks/>
          </p:cNvGrpSpPr>
          <p:nvPr/>
        </p:nvGrpSpPr>
        <p:grpSpPr bwMode="auto">
          <a:xfrm>
            <a:off x="1474788" y="830263"/>
            <a:ext cx="1874837" cy="771525"/>
            <a:chOff x="974" y="1344"/>
            <a:chExt cx="1181" cy="486"/>
          </a:xfrm>
        </p:grpSpPr>
        <p:pic>
          <p:nvPicPr>
            <p:cNvPr id="28699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第一部分</a:t>
              </a:r>
            </a:p>
          </p:txBody>
        </p:sp>
      </p:grpSp>
      <p:grpSp>
        <p:nvGrpSpPr>
          <p:cNvPr id="28674" name="Group 43"/>
          <p:cNvGrpSpPr>
            <a:grpSpLocks/>
          </p:cNvGrpSpPr>
          <p:nvPr/>
        </p:nvGrpSpPr>
        <p:grpSpPr bwMode="auto">
          <a:xfrm>
            <a:off x="3562350" y="854075"/>
            <a:ext cx="4033838" cy="747713"/>
            <a:chOff x="2245" y="1348"/>
            <a:chExt cx="2541" cy="471"/>
          </a:xfrm>
        </p:grpSpPr>
        <p:pic>
          <p:nvPicPr>
            <p:cNvPr id="28697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FFFFFF">
                    <a:gamma/>
                    <a:shade val="84706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FFFFFF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92075" algn="ctr">
                <a:buFont typeface="Wingdings" pitchFamily="2" charset="2"/>
                <a:buNone/>
                <a:defRPr/>
              </a:pPr>
              <a:r>
                <a:rPr lang="zh-CN" altLang="en-US" sz="2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冉思科技简介</a:t>
              </a:r>
              <a:endParaRPr lang="zh-CN" alt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8675" name="Group 38"/>
          <p:cNvGrpSpPr>
            <a:grpSpLocks/>
          </p:cNvGrpSpPr>
          <p:nvPr/>
        </p:nvGrpSpPr>
        <p:grpSpPr bwMode="auto">
          <a:xfrm>
            <a:off x="1474788" y="1765300"/>
            <a:ext cx="1874837" cy="771525"/>
            <a:chOff x="974" y="1344"/>
            <a:chExt cx="1181" cy="486"/>
          </a:xfrm>
        </p:grpSpPr>
        <p:pic>
          <p:nvPicPr>
            <p:cNvPr id="28695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第二部分</a:t>
              </a:r>
            </a:p>
          </p:txBody>
        </p:sp>
      </p:grpSp>
      <p:grpSp>
        <p:nvGrpSpPr>
          <p:cNvPr id="28676" name="Group 43"/>
          <p:cNvGrpSpPr>
            <a:grpSpLocks/>
          </p:cNvGrpSpPr>
          <p:nvPr/>
        </p:nvGrpSpPr>
        <p:grpSpPr bwMode="auto">
          <a:xfrm>
            <a:off x="3562350" y="1789113"/>
            <a:ext cx="4033838" cy="747712"/>
            <a:chOff x="2245" y="1348"/>
            <a:chExt cx="2541" cy="471"/>
          </a:xfrm>
        </p:grpSpPr>
        <p:pic>
          <p:nvPicPr>
            <p:cNvPr id="28693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</p:pic>
        <p:sp>
          <p:nvSpPr>
            <p:cNvPr id="28694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  <p:txBody>
            <a:bodyPr wrap="none" anchor="ctr"/>
            <a:lstStyle/>
            <a:p>
              <a:pPr marL="92075" algn="ctr"/>
              <a:r>
                <a:rPr lang="zh-CN" altLang="en-US" sz="20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业务背景介绍</a:t>
              </a:r>
            </a:p>
          </p:txBody>
        </p:sp>
      </p:grpSp>
      <p:grpSp>
        <p:nvGrpSpPr>
          <p:cNvPr id="28677" name="Group 38"/>
          <p:cNvGrpSpPr>
            <a:grpSpLocks/>
          </p:cNvGrpSpPr>
          <p:nvPr/>
        </p:nvGrpSpPr>
        <p:grpSpPr bwMode="auto">
          <a:xfrm>
            <a:off x="1473200" y="2630488"/>
            <a:ext cx="1874838" cy="771525"/>
            <a:chOff x="974" y="1344"/>
            <a:chExt cx="1181" cy="486"/>
          </a:xfrm>
        </p:grpSpPr>
        <p:pic>
          <p:nvPicPr>
            <p:cNvPr id="28691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第三部分</a:t>
              </a:r>
            </a:p>
          </p:txBody>
        </p:sp>
      </p:grpSp>
      <p:grpSp>
        <p:nvGrpSpPr>
          <p:cNvPr id="28678" name="Group 43"/>
          <p:cNvGrpSpPr>
            <a:grpSpLocks/>
          </p:cNvGrpSpPr>
          <p:nvPr/>
        </p:nvGrpSpPr>
        <p:grpSpPr bwMode="auto">
          <a:xfrm>
            <a:off x="3560763" y="2654300"/>
            <a:ext cx="4033837" cy="747713"/>
            <a:chOff x="2245" y="1348"/>
            <a:chExt cx="2541" cy="471"/>
          </a:xfrm>
        </p:grpSpPr>
        <p:pic>
          <p:nvPicPr>
            <p:cNvPr id="28689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</p:pic>
        <p:sp>
          <p:nvSpPr>
            <p:cNvPr id="28690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  <p:txBody>
            <a:bodyPr wrap="none" anchor="ctr"/>
            <a:lstStyle/>
            <a:p>
              <a:pPr marL="92075" algn="ctr">
                <a:buFont typeface="Wingdings" pitchFamily="2" charset="2"/>
                <a:buNone/>
              </a:pPr>
              <a:endPara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8679" name="Group 38"/>
          <p:cNvGrpSpPr>
            <a:grpSpLocks/>
          </p:cNvGrpSpPr>
          <p:nvPr/>
        </p:nvGrpSpPr>
        <p:grpSpPr bwMode="auto">
          <a:xfrm>
            <a:off x="1473200" y="3441700"/>
            <a:ext cx="1874838" cy="771525"/>
            <a:chOff x="974" y="1344"/>
            <a:chExt cx="1181" cy="486"/>
          </a:xfrm>
        </p:grpSpPr>
        <p:pic>
          <p:nvPicPr>
            <p:cNvPr id="28687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第四部分</a:t>
              </a:r>
            </a:p>
          </p:txBody>
        </p:sp>
      </p:grpSp>
      <p:grpSp>
        <p:nvGrpSpPr>
          <p:cNvPr id="28680" name="Group 43"/>
          <p:cNvGrpSpPr>
            <a:grpSpLocks/>
          </p:cNvGrpSpPr>
          <p:nvPr/>
        </p:nvGrpSpPr>
        <p:grpSpPr bwMode="auto">
          <a:xfrm>
            <a:off x="3560763" y="3465513"/>
            <a:ext cx="4033837" cy="747712"/>
            <a:chOff x="2245" y="1348"/>
            <a:chExt cx="2541" cy="471"/>
          </a:xfrm>
        </p:grpSpPr>
        <p:pic>
          <p:nvPicPr>
            <p:cNvPr id="28685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686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  <p:txBody>
            <a:bodyPr wrap="none" anchor="ctr"/>
            <a:lstStyle/>
            <a:p>
              <a:pPr marL="92075" algn="ctr"/>
              <a:r>
                <a:rPr lang="zh-CN" altLang="en-US" sz="20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小额支付运营介绍</a:t>
              </a:r>
            </a:p>
          </p:txBody>
        </p:sp>
      </p:grpSp>
      <p:sp>
        <p:nvSpPr>
          <p:cNvPr id="32" name="右箭头 31"/>
          <p:cNvSpPr/>
          <p:nvPr/>
        </p:nvSpPr>
        <p:spPr>
          <a:xfrm>
            <a:off x="785786" y="1807790"/>
            <a:ext cx="576064" cy="627063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684" name="矩形 34"/>
          <p:cNvSpPr>
            <a:spLocks noChangeArrowheads="1"/>
          </p:cNvSpPr>
          <p:nvPr/>
        </p:nvSpPr>
        <p:spPr bwMode="auto">
          <a:xfrm>
            <a:off x="4414838" y="2774950"/>
            <a:ext cx="23288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92075" algn="ctr"/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小额支付产品介绍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98" name="TextBox 11"/>
          <p:cNvSpPr txBox="1">
            <a:spLocks noChangeArrowheads="1"/>
          </p:cNvSpPr>
          <p:nvPr/>
        </p:nvSpPr>
        <p:spPr bwMode="auto">
          <a:xfrm>
            <a:off x="23813" y="34925"/>
            <a:ext cx="34305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市场需求和竞争分析</a:t>
            </a:r>
          </a:p>
        </p:txBody>
      </p:sp>
      <p:sp>
        <p:nvSpPr>
          <p:cNvPr id="29699" name="TextBox 12"/>
          <p:cNvSpPr txBox="1">
            <a:spLocks noChangeArrowheads="1"/>
          </p:cNvSpPr>
          <p:nvPr/>
        </p:nvSpPr>
        <p:spPr bwMode="auto">
          <a:xfrm>
            <a:off x="1057275" y="382588"/>
            <a:ext cx="7659688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altLang="zh-CN" sz="2400" b="1">
              <a:solidFill>
                <a:srgbClr val="00B050"/>
              </a:solidFill>
            </a:endParaRPr>
          </a:p>
          <a:p>
            <a:r>
              <a:rPr lang="en-US" altLang="zh-CN" sz="2400" b="1">
                <a:solidFill>
                  <a:srgbClr val="000000"/>
                </a:solidFill>
              </a:rPr>
              <a:t>Gartner</a:t>
            </a:r>
            <a:r>
              <a:rPr lang="zh-CN" altLang="en-US" sz="2400" b="1">
                <a:solidFill>
                  <a:srgbClr val="000000"/>
                </a:solidFill>
              </a:rPr>
              <a:t>报告：</a:t>
            </a:r>
            <a:endParaRPr lang="en-US" altLang="zh-CN" sz="2400" b="1">
              <a:solidFill>
                <a:srgbClr val="000000"/>
              </a:solidFill>
            </a:endParaRPr>
          </a:p>
          <a:p>
            <a:r>
              <a:rPr lang="en-US" altLang="zh-CN" sz="2400" b="1">
                <a:solidFill>
                  <a:srgbClr val="00B050"/>
                </a:solidFill>
              </a:rPr>
              <a:t>2012</a:t>
            </a:r>
            <a:r>
              <a:rPr lang="zh-CN" altLang="en-US" sz="2400" b="1">
                <a:solidFill>
                  <a:srgbClr val="00B050"/>
                </a:solidFill>
              </a:rPr>
              <a:t>年全球移动支付交易规模较</a:t>
            </a:r>
            <a:r>
              <a:rPr lang="en-US" altLang="zh-CN" sz="2400" b="1">
                <a:solidFill>
                  <a:srgbClr val="00B050"/>
                </a:solidFill>
              </a:rPr>
              <a:t>2011</a:t>
            </a:r>
            <a:r>
              <a:rPr lang="zh-CN" altLang="en-US" sz="2400" b="1">
                <a:solidFill>
                  <a:srgbClr val="00B050"/>
                </a:solidFill>
              </a:rPr>
              <a:t>年增长</a:t>
            </a:r>
            <a:r>
              <a:rPr lang="en-US" altLang="zh-CN" sz="2400" b="1">
                <a:solidFill>
                  <a:srgbClr val="00B050"/>
                </a:solidFill>
              </a:rPr>
              <a:t>61.9%</a:t>
            </a:r>
            <a:r>
              <a:rPr lang="zh-CN" altLang="en-US" sz="2400" b="1">
                <a:solidFill>
                  <a:srgbClr val="00B050"/>
                </a:solidFill>
              </a:rPr>
              <a:t>；</a:t>
            </a:r>
            <a:endParaRPr lang="en-US" altLang="zh-CN" sz="2400" b="1">
              <a:solidFill>
                <a:srgbClr val="00B050"/>
              </a:solidFill>
            </a:endParaRPr>
          </a:p>
          <a:p>
            <a:r>
              <a:rPr lang="en-US" altLang="zh-CN" sz="2400" b="1">
                <a:solidFill>
                  <a:srgbClr val="00B050"/>
                </a:solidFill>
              </a:rPr>
              <a:t>2012</a:t>
            </a:r>
            <a:r>
              <a:rPr lang="zh-CN" altLang="en-US" sz="2400" b="1">
                <a:solidFill>
                  <a:srgbClr val="00B050"/>
                </a:solidFill>
              </a:rPr>
              <a:t>年全球移动支付用户同比增长</a:t>
            </a:r>
            <a:r>
              <a:rPr lang="en-US" altLang="zh-CN" sz="2400" b="1">
                <a:solidFill>
                  <a:srgbClr val="00B050"/>
                </a:solidFill>
              </a:rPr>
              <a:t>31.3%</a:t>
            </a:r>
            <a:r>
              <a:rPr lang="zh-CN" altLang="en-US" sz="2400" b="1">
                <a:solidFill>
                  <a:srgbClr val="00B050"/>
                </a:solidFill>
              </a:rPr>
              <a:t>；</a:t>
            </a:r>
            <a:endParaRPr lang="en-US" altLang="zh-CN" sz="2400" b="1">
              <a:solidFill>
                <a:srgbClr val="00B050"/>
              </a:solidFill>
            </a:endParaRPr>
          </a:p>
          <a:p>
            <a:r>
              <a:rPr lang="zh-CN" altLang="en-US" sz="2400" b="1">
                <a:solidFill>
                  <a:srgbClr val="00B050"/>
                </a:solidFill>
              </a:rPr>
              <a:t>至</a:t>
            </a:r>
            <a:r>
              <a:rPr lang="en-US" altLang="zh-CN" sz="2400" b="1">
                <a:solidFill>
                  <a:srgbClr val="00B050"/>
                </a:solidFill>
              </a:rPr>
              <a:t>2015</a:t>
            </a:r>
            <a:r>
              <a:rPr lang="zh-CN" altLang="en-US" sz="2400" b="1">
                <a:solidFill>
                  <a:srgbClr val="00B050"/>
                </a:solidFill>
              </a:rPr>
              <a:t>年，</a:t>
            </a:r>
            <a:r>
              <a:rPr lang="en-US" altLang="zh-CN" sz="2400" b="1">
                <a:solidFill>
                  <a:srgbClr val="00B050"/>
                </a:solidFill>
              </a:rPr>
              <a:t>33%</a:t>
            </a:r>
            <a:r>
              <a:rPr lang="zh-CN" altLang="en-US" sz="2400" b="1">
                <a:solidFill>
                  <a:srgbClr val="00B050"/>
                </a:solidFill>
              </a:rPr>
              <a:t>的消费品牌会将移动支付整合至</a:t>
            </a:r>
            <a:r>
              <a:rPr lang="en-US" altLang="zh-CN" sz="2400" b="1">
                <a:solidFill>
                  <a:srgbClr val="00B050"/>
                </a:solidFill>
              </a:rPr>
              <a:t>APP</a:t>
            </a:r>
            <a:r>
              <a:rPr lang="zh-CN" altLang="en-US" sz="2400" b="1">
                <a:solidFill>
                  <a:srgbClr val="00B050"/>
                </a:solidFill>
              </a:rPr>
              <a:t>。</a:t>
            </a:r>
            <a:endParaRPr lang="en-US" altLang="zh-CN" sz="2400" b="1">
              <a:solidFill>
                <a:srgbClr val="00B050"/>
              </a:solidFill>
            </a:endParaRPr>
          </a:p>
          <a:p>
            <a:endParaRPr lang="en-US" altLang="zh-CN" sz="2400" b="1"/>
          </a:p>
        </p:txBody>
      </p:sp>
      <p:sp>
        <p:nvSpPr>
          <p:cNvPr id="29700" name="TextBox 4"/>
          <p:cNvSpPr txBox="1">
            <a:spLocks noChangeArrowheads="1"/>
          </p:cNvSpPr>
          <p:nvPr/>
        </p:nvSpPr>
        <p:spPr bwMode="auto">
          <a:xfrm>
            <a:off x="1055688" y="2090738"/>
            <a:ext cx="7658100" cy="304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altLang="zh-CN" sz="2400" b="1">
              <a:solidFill>
                <a:srgbClr val="00B050"/>
              </a:solidFill>
            </a:endParaRPr>
          </a:p>
          <a:p>
            <a:r>
              <a:rPr lang="zh-CN" altLang="en-US" sz="2400" b="1">
                <a:solidFill>
                  <a:srgbClr val="000000"/>
                </a:solidFill>
              </a:rPr>
              <a:t>第三方支付：</a:t>
            </a:r>
            <a:endParaRPr lang="en-US" altLang="zh-CN" sz="2400" b="1">
              <a:solidFill>
                <a:srgbClr val="000000"/>
              </a:solidFill>
            </a:endParaRPr>
          </a:p>
          <a:p>
            <a:r>
              <a:rPr lang="en-US" altLang="zh-CN" sz="2400" b="1">
                <a:solidFill>
                  <a:srgbClr val="00B050"/>
                </a:solidFill>
              </a:rPr>
              <a:t>PayPal</a:t>
            </a:r>
            <a:r>
              <a:rPr lang="zh-CN" altLang="en-US" sz="2400" b="1">
                <a:solidFill>
                  <a:srgbClr val="00B050"/>
                </a:solidFill>
              </a:rPr>
              <a:t>（</a:t>
            </a:r>
            <a:r>
              <a:rPr lang="en-US" altLang="zh-CN" sz="2400" b="1">
                <a:solidFill>
                  <a:srgbClr val="00B050"/>
                </a:solidFill>
              </a:rPr>
              <a:t>ebay</a:t>
            </a:r>
            <a:r>
              <a:rPr lang="zh-CN" altLang="en-US" sz="2400" b="1">
                <a:solidFill>
                  <a:srgbClr val="00B050"/>
                </a:solidFill>
              </a:rPr>
              <a:t>）、支付宝、拉卡拉、财付通、盛付通、通联支付、易宝支付（</a:t>
            </a:r>
            <a:r>
              <a:rPr lang="en-US" altLang="zh-CN" sz="2400" b="1">
                <a:solidFill>
                  <a:srgbClr val="00B050"/>
                </a:solidFill>
              </a:rPr>
              <a:t>Yeepay</a:t>
            </a:r>
            <a:r>
              <a:rPr lang="zh-CN" altLang="en-US" sz="2400" b="1">
                <a:solidFill>
                  <a:srgbClr val="00B050"/>
                </a:solidFill>
              </a:rPr>
              <a:t>）、快钱（</a:t>
            </a:r>
            <a:r>
              <a:rPr lang="en-US" altLang="zh-CN" sz="2400" b="1">
                <a:solidFill>
                  <a:srgbClr val="00B050"/>
                </a:solidFill>
              </a:rPr>
              <a:t>99bill</a:t>
            </a:r>
            <a:r>
              <a:rPr lang="zh-CN" altLang="en-US" sz="2400" b="1">
                <a:solidFill>
                  <a:srgbClr val="00B050"/>
                </a:solidFill>
              </a:rPr>
              <a:t>）、国付宝（</a:t>
            </a:r>
            <a:r>
              <a:rPr lang="en-US" altLang="zh-CN" sz="2400" b="1">
                <a:solidFill>
                  <a:srgbClr val="00B050"/>
                </a:solidFill>
              </a:rPr>
              <a:t>Gopay</a:t>
            </a:r>
            <a:r>
              <a:rPr lang="zh-CN" altLang="en-US" sz="2400" b="1">
                <a:solidFill>
                  <a:srgbClr val="00B050"/>
                </a:solidFill>
              </a:rPr>
              <a:t>）、百付宝（百度）、物流宝（网达网）、网易宝（网易）、网银在线（</a:t>
            </a:r>
            <a:r>
              <a:rPr lang="en-US" altLang="zh-CN" sz="2400" b="1">
                <a:solidFill>
                  <a:srgbClr val="00B050"/>
                </a:solidFill>
              </a:rPr>
              <a:t>chinabank</a:t>
            </a:r>
            <a:r>
              <a:rPr lang="zh-CN" altLang="en-US" sz="2400" b="1">
                <a:solidFill>
                  <a:srgbClr val="00B050"/>
                </a:solidFill>
              </a:rPr>
              <a:t>）、环迅支付</a:t>
            </a:r>
            <a:r>
              <a:rPr lang="en-US" altLang="zh-CN" sz="2400" b="1">
                <a:solidFill>
                  <a:srgbClr val="00B050"/>
                </a:solidFill>
              </a:rPr>
              <a:t>IPS</a:t>
            </a:r>
            <a:r>
              <a:rPr lang="zh-CN" altLang="en-US" sz="2400" b="1">
                <a:solidFill>
                  <a:srgbClr val="00B050"/>
                </a:solidFill>
              </a:rPr>
              <a:t>、汇付天下、汇聚支付</a:t>
            </a:r>
            <a:r>
              <a:rPr lang="en-US" altLang="zh-CN" sz="2400" b="1">
                <a:solidFill>
                  <a:srgbClr val="00B050"/>
                </a:solidFill>
              </a:rPr>
              <a:t>(joinpay</a:t>
            </a:r>
            <a:r>
              <a:rPr lang="zh-CN" altLang="en-US" sz="2400" b="1">
                <a:solidFill>
                  <a:srgbClr val="00B050"/>
                </a:solidFill>
              </a:rPr>
              <a:t>）、宝易互通、宝付。</a:t>
            </a:r>
            <a:endParaRPr lang="en-US" altLang="zh-CN" sz="2400" b="1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22" name="TextBox 11"/>
          <p:cNvSpPr txBox="1">
            <a:spLocks noChangeArrowheads="1"/>
          </p:cNvSpPr>
          <p:nvPr/>
        </p:nvSpPr>
        <p:spPr bwMode="auto">
          <a:xfrm>
            <a:off x="23813" y="34925"/>
            <a:ext cx="34305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产品定位和用户剖析</a:t>
            </a:r>
          </a:p>
        </p:txBody>
      </p:sp>
      <p:sp>
        <p:nvSpPr>
          <p:cNvPr id="30723" name="TextBox 4"/>
          <p:cNvSpPr txBox="1">
            <a:spLocks noChangeArrowheads="1"/>
          </p:cNvSpPr>
          <p:nvPr/>
        </p:nvSpPr>
        <p:spPr bwMode="auto">
          <a:xfrm>
            <a:off x="1057275" y="820738"/>
            <a:ext cx="7659688" cy="415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/>
              <a:t>应用范围：</a:t>
            </a:r>
            <a:r>
              <a:rPr lang="zh-CN" altLang="zh-CN" sz="2400" b="1">
                <a:solidFill>
                  <a:srgbClr val="00B050"/>
                </a:solidFill>
              </a:rPr>
              <a:t>小额信息产品及无物流产品</a:t>
            </a:r>
            <a:r>
              <a:rPr lang="zh-CN" altLang="en-US" sz="2400" b="1">
                <a:solidFill>
                  <a:srgbClr val="00B050"/>
                </a:solidFill>
              </a:rPr>
              <a:t>，如</a:t>
            </a:r>
            <a:r>
              <a:rPr lang="zh-CN" altLang="zh-CN" sz="2400" b="1">
                <a:solidFill>
                  <a:srgbClr val="00B050"/>
                </a:solidFill>
              </a:rPr>
              <a:t>音乐</a:t>
            </a:r>
            <a:r>
              <a:rPr lang="zh-CN" altLang="en-US" sz="2400" b="1">
                <a:solidFill>
                  <a:srgbClr val="00B050"/>
                </a:solidFill>
              </a:rPr>
              <a:t>下载</a:t>
            </a:r>
            <a:r>
              <a:rPr lang="zh-CN" altLang="zh-CN" sz="2400" b="1">
                <a:solidFill>
                  <a:srgbClr val="00B050"/>
                </a:solidFill>
              </a:rPr>
              <a:t>、电影下载、财经信息、游戏点卡、文章订阅、软件支付</a:t>
            </a:r>
            <a:r>
              <a:rPr lang="zh-CN" altLang="en-US" sz="2400" b="1">
                <a:solidFill>
                  <a:srgbClr val="00B050"/>
                </a:solidFill>
              </a:rPr>
              <a:t>、</a:t>
            </a:r>
            <a:r>
              <a:rPr lang="zh-CN" altLang="zh-CN" sz="2400" b="1">
                <a:solidFill>
                  <a:srgbClr val="00B050"/>
                </a:solidFill>
              </a:rPr>
              <a:t>购票、饮料、水电费</a:t>
            </a:r>
            <a:r>
              <a:rPr lang="zh-CN" altLang="en-US" sz="2400" b="1">
                <a:solidFill>
                  <a:srgbClr val="00B050"/>
                </a:solidFill>
              </a:rPr>
              <a:t>、小额保险、快递等；</a:t>
            </a:r>
            <a:endParaRPr lang="en-US" altLang="zh-CN" sz="2400" b="1">
              <a:solidFill>
                <a:srgbClr val="00B050"/>
              </a:solidFill>
            </a:endParaRPr>
          </a:p>
          <a:p>
            <a:endParaRPr lang="en-US" altLang="zh-CN" sz="2400" b="1">
              <a:solidFill>
                <a:srgbClr val="00B050"/>
              </a:solidFill>
            </a:endParaRPr>
          </a:p>
          <a:p>
            <a:r>
              <a:rPr lang="zh-CN" altLang="en-US" sz="2400" b="1"/>
              <a:t>产品特质：</a:t>
            </a:r>
            <a:r>
              <a:rPr lang="zh-CN" altLang="en-US" sz="2400" b="1">
                <a:solidFill>
                  <a:srgbClr val="00B050"/>
                </a:solidFill>
              </a:rPr>
              <a:t>手机话费代扣是小额支付的独特优势，也是手机使用者的共同特性，避免了第三方支付种类繁多、市场割据的乱象；</a:t>
            </a:r>
            <a:endParaRPr lang="en-US" altLang="zh-CN" sz="2400" b="1">
              <a:solidFill>
                <a:srgbClr val="00B050"/>
              </a:solidFill>
            </a:endParaRPr>
          </a:p>
          <a:p>
            <a:endParaRPr lang="en-US" altLang="zh-CN" sz="2400" b="1">
              <a:solidFill>
                <a:srgbClr val="00B050"/>
              </a:solidFill>
            </a:endParaRPr>
          </a:p>
          <a:p>
            <a:r>
              <a:rPr lang="zh-CN" altLang="en-US" sz="2400" b="1"/>
              <a:t>发展前景：</a:t>
            </a:r>
            <a:r>
              <a:rPr lang="zh-CN" altLang="en-US" sz="2400" b="1">
                <a:solidFill>
                  <a:srgbClr val="00B050"/>
                </a:solidFill>
              </a:rPr>
              <a:t>手机小额支付实现了“移动互联网＋便捷支付”，具有可视化界面和体验优势，并利于增值业务的捆绑和推广；</a:t>
            </a:r>
            <a:endParaRPr lang="zh-CN" altLang="zh-CN" sz="2400" b="1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46" name="TextBox 11"/>
          <p:cNvSpPr txBox="1">
            <a:spLocks noChangeArrowheads="1"/>
          </p:cNvSpPr>
          <p:nvPr/>
        </p:nvSpPr>
        <p:spPr bwMode="auto">
          <a:xfrm>
            <a:off x="23813" y="34925"/>
            <a:ext cx="30702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当前语音充值方式</a:t>
            </a:r>
          </a:p>
        </p:txBody>
      </p:sp>
      <p:sp>
        <p:nvSpPr>
          <p:cNvPr id="31747" name="TextBox 6"/>
          <p:cNvSpPr txBox="1">
            <a:spLocks noChangeArrowheads="1"/>
          </p:cNvSpPr>
          <p:nvPr/>
        </p:nvSpPr>
        <p:spPr bwMode="auto">
          <a:xfrm>
            <a:off x="684213" y="1577975"/>
            <a:ext cx="78486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>
                <a:solidFill>
                  <a:srgbClr val="000000"/>
                </a:solidFill>
                <a:ea typeface="华文仿宋" pitchFamily="2" charset="-122"/>
              </a:rPr>
              <a:t>拨打</a:t>
            </a:r>
            <a:r>
              <a:rPr lang="en-US" altLang="zh-CN" b="1">
                <a:solidFill>
                  <a:srgbClr val="000000"/>
                </a:solidFill>
              </a:rPr>
              <a:t>16885885</a:t>
            </a:r>
            <a:r>
              <a:rPr lang="zh-CN" altLang="en-US" b="1">
                <a:solidFill>
                  <a:srgbClr val="000000"/>
                </a:solidFill>
                <a:ea typeface="华文仿宋" pitchFamily="2" charset="-122"/>
              </a:rPr>
              <a:t>腾讯</a:t>
            </a:r>
            <a:r>
              <a:rPr lang="en-US" altLang="zh-CN" b="1">
                <a:solidFill>
                  <a:srgbClr val="000000"/>
                </a:solidFill>
              </a:rPr>
              <a:t>Q</a:t>
            </a:r>
            <a:r>
              <a:rPr lang="zh-CN" altLang="en-US" b="1">
                <a:solidFill>
                  <a:srgbClr val="000000"/>
                </a:solidFill>
                <a:ea typeface="华文仿宋" pitchFamily="2" charset="-122"/>
              </a:rPr>
              <a:t>币充值热线</a:t>
            </a:r>
            <a:endParaRPr lang="zh-CN" altLang="en-US">
              <a:solidFill>
                <a:srgbClr val="000000"/>
              </a:solidFill>
              <a:ea typeface="华文仿宋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42988" y="2459038"/>
            <a:ext cx="1944687" cy="639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altLang="en-US" dirty="0">
                <a:solidFill>
                  <a:prstClr val="white"/>
                </a:solidFill>
                <a:ea typeface="华文仿宋"/>
              </a:rPr>
              <a:t>输入</a:t>
            </a:r>
            <a:r>
              <a:rPr lang="en-US" altLang="zh-CN" dirty="0">
                <a:solidFill>
                  <a:prstClr val="white"/>
                </a:solidFill>
              </a:rPr>
              <a:t>QQ</a:t>
            </a:r>
            <a:r>
              <a:rPr altLang="en-US" dirty="0">
                <a:solidFill>
                  <a:prstClr val="white"/>
                </a:solidFill>
                <a:ea typeface="华文仿宋"/>
              </a:rPr>
              <a:t>号码</a:t>
            </a:r>
            <a:endParaRPr altLang="en-US" dirty="0">
              <a:solidFill>
                <a:prstClr val="white"/>
              </a:solidFill>
              <a:ea typeface="华文仿宋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41763" y="2460625"/>
            <a:ext cx="2089150" cy="638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altLang="en-US" dirty="0">
                <a:solidFill>
                  <a:prstClr val="white"/>
                </a:solidFill>
                <a:ea typeface="华文仿宋"/>
              </a:rPr>
              <a:t>选择</a:t>
            </a:r>
            <a:r>
              <a:rPr lang="en-US" altLang="zh-CN" dirty="0">
                <a:solidFill>
                  <a:prstClr val="white"/>
                </a:solidFill>
              </a:rPr>
              <a:t>Q</a:t>
            </a:r>
            <a:r>
              <a:rPr altLang="en-US" dirty="0">
                <a:solidFill>
                  <a:prstClr val="white"/>
                </a:solidFill>
                <a:ea typeface="华文仿宋"/>
              </a:rPr>
              <a:t>币充值金额</a:t>
            </a:r>
            <a:r>
              <a:rPr lang="en-US" altLang="zh-CN" dirty="0">
                <a:solidFill>
                  <a:prstClr val="white"/>
                </a:solidFill>
              </a:rPr>
              <a:t>:</a:t>
            </a:r>
          </a:p>
          <a:p>
            <a:pPr algn="ctr">
              <a:defRPr/>
            </a:pPr>
            <a:r>
              <a:rPr lang="en-US" altLang="zh-CN" dirty="0">
                <a:solidFill>
                  <a:prstClr val="white"/>
                </a:solidFill>
              </a:rPr>
              <a:t>50</a:t>
            </a:r>
            <a:r>
              <a:rPr altLang="en-US" dirty="0">
                <a:solidFill>
                  <a:prstClr val="white"/>
                </a:solidFill>
                <a:ea typeface="华文仿宋"/>
              </a:rPr>
              <a:t>、</a:t>
            </a:r>
            <a:r>
              <a:rPr lang="en-US" altLang="zh-CN" dirty="0">
                <a:solidFill>
                  <a:prstClr val="white"/>
                </a:solidFill>
              </a:rPr>
              <a:t>30</a:t>
            </a:r>
            <a:r>
              <a:rPr altLang="en-US" dirty="0">
                <a:solidFill>
                  <a:prstClr val="white"/>
                </a:solidFill>
                <a:ea typeface="华文仿宋"/>
              </a:rPr>
              <a:t>、</a:t>
            </a:r>
            <a:r>
              <a:rPr lang="en-US" altLang="zh-CN" dirty="0">
                <a:solidFill>
                  <a:prstClr val="white"/>
                </a:solidFill>
              </a:rPr>
              <a:t>20</a:t>
            </a:r>
            <a:r>
              <a:rPr altLang="en-US" dirty="0">
                <a:solidFill>
                  <a:prstClr val="white"/>
                </a:solidFill>
                <a:ea typeface="华文仿宋"/>
              </a:rPr>
              <a:t>、</a:t>
            </a:r>
            <a:r>
              <a:rPr lang="en-US" altLang="zh-CN" dirty="0">
                <a:solidFill>
                  <a:prstClr val="white"/>
                </a:solidFill>
              </a:rPr>
              <a:t>10</a:t>
            </a:r>
            <a:endParaRPr altLang="en-US" dirty="0">
              <a:solidFill>
                <a:prstClr val="white"/>
              </a:solidFill>
              <a:ea typeface="华文仿宋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2998788" y="2701925"/>
            <a:ext cx="923925" cy="107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altLang="en-US">
              <a:solidFill>
                <a:prstClr val="white"/>
              </a:solidFill>
              <a:ea typeface="华文仿宋"/>
            </a:endParaRPr>
          </a:p>
        </p:txBody>
      </p:sp>
      <p:sp>
        <p:nvSpPr>
          <p:cNvPr id="31751" name="TextBox 12"/>
          <p:cNvSpPr txBox="1">
            <a:spLocks noChangeArrowheads="1"/>
          </p:cNvSpPr>
          <p:nvPr/>
        </p:nvSpPr>
        <p:spPr bwMode="auto">
          <a:xfrm>
            <a:off x="684213" y="3736975"/>
            <a:ext cx="7848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>
                <a:solidFill>
                  <a:srgbClr val="000000"/>
                </a:solidFill>
                <a:ea typeface="华文仿宋" pitchFamily="2" charset="-122"/>
              </a:rPr>
              <a:t>拨打</a:t>
            </a:r>
            <a:r>
              <a:rPr lang="en-US" altLang="zh-CN" b="1">
                <a:solidFill>
                  <a:srgbClr val="000000"/>
                </a:solidFill>
              </a:rPr>
              <a:t>160</a:t>
            </a:r>
            <a:r>
              <a:rPr lang="zh-CN" altLang="en-US" b="1">
                <a:solidFill>
                  <a:srgbClr val="000000"/>
                </a:solidFill>
                <a:ea typeface="华文仿宋" pitchFamily="2" charset="-122"/>
              </a:rPr>
              <a:t>人工台</a:t>
            </a:r>
            <a:endParaRPr lang="zh-CN" altLang="en-US">
              <a:solidFill>
                <a:srgbClr val="000000"/>
              </a:solidFill>
              <a:ea typeface="华文仿宋" pitchFamily="2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092950" y="2457450"/>
            <a:ext cx="1295400" cy="6413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altLang="en-US" dirty="0" err="1">
                <a:solidFill>
                  <a:prstClr val="white"/>
                </a:solidFill>
                <a:ea typeface="华文仿宋"/>
              </a:rPr>
              <a:t>充值</a:t>
            </a:r>
            <a:r>
              <a:rPr lang="en-US" altLang="zh-CN" dirty="0" err="1">
                <a:solidFill>
                  <a:prstClr val="white"/>
                </a:solidFill>
              </a:rPr>
              <a:t>Q</a:t>
            </a:r>
            <a:r>
              <a:rPr altLang="en-US" dirty="0" err="1">
                <a:solidFill>
                  <a:prstClr val="white"/>
                </a:solidFill>
                <a:ea typeface="华文仿宋"/>
              </a:rPr>
              <a:t>币</a:t>
            </a:r>
            <a:r>
              <a:rPr lang="zh-CN" altLang="en-US" dirty="0">
                <a:solidFill>
                  <a:prstClr val="white"/>
                </a:solidFill>
                <a:ea typeface="华文仿宋"/>
              </a:rPr>
              <a:t>实时到</a:t>
            </a:r>
            <a:r>
              <a:rPr altLang="en-US" dirty="0">
                <a:solidFill>
                  <a:prstClr val="white"/>
                </a:solidFill>
                <a:ea typeface="华文仿宋"/>
              </a:rPr>
              <a:t>账</a:t>
            </a:r>
            <a:endParaRPr altLang="en-US" dirty="0">
              <a:solidFill>
                <a:prstClr val="white"/>
              </a:solidFill>
              <a:ea typeface="华文仿宋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6030913" y="2736850"/>
            <a:ext cx="1062037" cy="1222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altLang="en-US">
              <a:solidFill>
                <a:prstClr val="white"/>
              </a:solidFill>
              <a:ea typeface="华文仿宋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70" name="TextBox 11"/>
          <p:cNvSpPr txBox="1">
            <a:spLocks noChangeArrowheads="1"/>
          </p:cNvSpPr>
          <p:nvPr/>
        </p:nvSpPr>
        <p:spPr bwMode="auto">
          <a:xfrm>
            <a:off x="23813" y="34925"/>
            <a:ext cx="30702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当前存在问题分析</a:t>
            </a:r>
          </a:p>
        </p:txBody>
      </p:sp>
      <p:sp>
        <p:nvSpPr>
          <p:cNvPr id="32771" name="内容占位符 2"/>
          <p:cNvSpPr>
            <a:spLocks noGrp="1"/>
          </p:cNvSpPr>
          <p:nvPr>
            <p:ph sz="quarter" idx="13"/>
          </p:nvPr>
        </p:nvSpPr>
        <p:spPr>
          <a:xfrm>
            <a:off x="609600" y="985838"/>
            <a:ext cx="8153400" cy="3640137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按语音提示操作，不够直观，用户体验不佳。</a:t>
            </a:r>
            <a:endParaRPr lang="en-US" altLang="zh-CN" sz="2800" smtClean="0"/>
          </a:p>
          <a:p>
            <a:pPr eaLnBrk="1" hangingPunct="1"/>
            <a:r>
              <a:rPr lang="zh-CN" altLang="en-US" sz="2800" smtClean="0"/>
              <a:t>语音支付操作时间长，会流失一部分用户。</a:t>
            </a:r>
            <a:endParaRPr lang="en-US" altLang="zh-CN" sz="2800" smtClean="0"/>
          </a:p>
          <a:p>
            <a:pPr eaLnBrk="1" hangingPunct="1"/>
            <a:r>
              <a:rPr lang="zh-CN" altLang="en-US" sz="2800" smtClean="0"/>
              <a:t>多个游戏公司对应多个</a:t>
            </a:r>
            <a:r>
              <a:rPr lang="en-US" altLang="zh-CN" sz="2800" smtClean="0"/>
              <a:t>168</a:t>
            </a:r>
            <a:r>
              <a:rPr lang="zh-CN" altLang="en-US" sz="2800" smtClean="0"/>
              <a:t>充值号码，业务的整合、叠加、推广有局限。</a:t>
            </a:r>
            <a:endParaRPr lang="en-US" altLang="zh-CN" sz="2800" smtClean="0"/>
          </a:p>
          <a:p>
            <a:pPr eaLnBrk="1" hangingPunct="1"/>
            <a:r>
              <a:rPr lang="zh-CN" altLang="en-US" sz="2800" smtClean="0"/>
              <a:t>盗打现象普遍，安全性不高。</a:t>
            </a:r>
            <a:endParaRPr lang="en-US" altLang="zh-CN" sz="2800" smtClean="0"/>
          </a:p>
          <a:p>
            <a:pPr eaLnBrk="1" hangingPunct="1"/>
            <a:r>
              <a:rPr lang="zh-CN" altLang="en-US" sz="2800" smtClean="0"/>
              <a:t>历史记录查询等功能不足。</a:t>
            </a:r>
            <a:endParaRPr lang="en-US" altLang="zh-CN" sz="2800" smtClean="0"/>
          </a:p>
          <a:p>
            <a:pPr eaLnBrk="1" hangingPunct="1"/>
            <a:endParaRPr lang="zh-CN" altLang="en-US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94" name="TextBox 11"/>
          <p:cNvSpPr txBox="1">
            <a:spLocks noChangeArrowheads="1"/>
          </p:cNvSpPr>
          <p:nvPr/>
        </p:nvSpPr>
        <p:spPr bwMode="auto">
          <a:xfrm>
            <a:off x="23813" y="34925"/>
            <a:ext cx="23479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手机小额支付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858838" y="1255713"/>
            <a:ext cx="7305675" cy="399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3200" dirty="0">
                <a:latin typeface="+mn-lt"/>
                <a:ea typeface="+mn-ea"/>
              </a:rPr>
              <a:t>	1</a:t>
            </a:r>
            <a:r>
              <a:rPr lang="zh-CN" altLang="en-US" sz="3200" dirty="0">
                <a:latin typeface="+mn-lt"/>
                <a:ea typeface="+mn-ea"/>
              </a:rPr>
              <a:t>、</a:t>
            </a:r>
            <a:r>
              <a:rPr lang="zh-CN" altLang="en-US" sz="3000" dirty="0">
                <a:latin typeface="+mn-lt"/>
                <a:ea typeface="+mn-ea"/>
              </a:rPr>
              <a:t>用户无需注册、无需银行卡信息</a:t>
            </a:r>
            <a:endParaRPr lang="en-US" altLang="zh-CN" sz="3000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3000" dirty="0">
                <a:latin typeface="+mn-lt"/>
                <a:ea typeface="+mn-ea"/>
              </a:rPr>
              <a:t>	2</a:t>
            </a:r>
            <a:r>
              <a:rPr lang="zh-CN" altLang="en-US" sz="3000" dirty="0">
                <a:latin typeface="+mn-lt"/>
                <a:ea typeface="+mn-ea"/>
              </a:rPr>
              <a:t>、避免固话盗打盗充</a:t>
            </a:r>
            <a:endParaRPr lang="en-US" altLang="zh-CN" sz="3000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3000" dirty="0">
                <a:latin typeface="+mn-lt"/>
                <a:ea typeface="+mn-ea"/>
              </a:rPr>
              <a:t>	3</a:t>
            </a:r>
            <a:r>
              <a:rPr lang="zh-CN" altLang="en-US" sz="3000" dirty="0">
                <a:latin typeface="+mn-lt"/>
                <a:ea typeface="+mn-ea"/>
              </a:rPr>
              <a:t>、本机用户可一键支付完成</a:t>
            </a:r>
            <a:endParaRPr lang="en-US" altLang="zh-CN" sz="3000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3000" dirty="0">
                <a:latin typeface="+mn-lt"/>
                <a:ea typeface="+mn-ea"/>
              </a:rPr>
              <a:t>	4</a:t>
            </a:r>
            <a:r>
              <a:rPr lang="zh-CN" altLang="en-US" sz="3000" dirty="0">
                <a:latin typeface="+mn-lt"/>
                <a:ea typeface="+mn-ea"/>
              </a:rPr>
              <a:t>、也可为其他用户代充（需输入短信验证码）</a:t>
            </a:r>
            <a:endParaRPr lang="en-US" altLang="zh-CN" sz="3000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3000" dirty="0">
                <a:latin typeface="+mn-lt"/>
                <a:ea typeface="+mn-ea"/>
              </a:rPr>
              <a:t>	5</a:t>
            </a:r>
            <a:r>
              <a:rPr lang="zh-CN" altLang="en-US" sz="3000" dirty="0">
                <a:latin typeface="+mn-lt"/>
                <a:ea typeface="+mn-ea"/>
              </a:rPr>
              <a:t>、业务整合、叠加、推广方便</a:t>
            </a:r>
            <a:endParaRPr lang="en-US" altLang="zh-CN" sz="3000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3000" dirty="0">
                <a:latin typeface="+mn-lt"/>
                <a:ea typeface="+mn-ea"/>
              </a:rPr>
              <a:t>	6</a:t>
            </a:r>
            <a:r>
              <a:rPr lang="zh-CN" altLang="en-US" sz="3000" dirty="0">
                <a:latin typeface="+mn-lt"/>
                <a:ea typeface="+mn-ea"/>
              </a:rPr>
              <a:t>、支付界面直观、操作便捷</a:t>
            </a:r>
            <a:endParaRPr lang="en-US" altLang="zh-CN" sz="3000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3000" dirty="0">
                <a:latin typeface="+mn-lt"/>
                <a:ea typeface="+mn-ea"/>
              </a:rPr>
              <a:t>	7</a:t>
            </a:r>
            <a:r>
              <a:rPr lang="zh-CN" altLang="en-US" sz="3000" dirty="0">
                <a:latin typeface="+mn-lt"/>
                <a:ea typeface="+mn-ea"/>
              </a:rPr>
              <a:t>、可设置每日每月支付限额，保证资金安全</a:t>
            </a:r>
            <a:endParaRPr lang="en-US" altLang="zh-CN" sz="3000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3000" dirty="0">
                <a:latin typeface="+mn-lt"/>
                <a:ea typeface="+mn-ea"/>
              </a:rPr>
              <a:t>	8</a:t>
            </a:r>
            <a:r>
              <a:rPr lang="zh-CN" altLang="en-US" sz="3000" dirty="0">
                <a:latin typeface="+mn-lt"/>
                <a:ea typeface="+mn-ea"/>
              </a:rPr>
              <a:t>、可通过</a:t>
            </a:r>
            <a:r>
              <a:rPr lang="en-US" altLang="zh-CN" sz="3000" dirty="0">
                <a:latin typeface="+mn-lt"/>
                <a:ea typeface="+mn-ea"/>
              </a:rPr>
              <a:t>WIFI</a:t>
            </a:r>
            <a:r>
              <a:rPr lang="zh-CN" altLang="en-US" sz="3000" dirty="0">
                <a:latin typeface="+mn-lt"/>
                <a:ea typeface="+mn-ea"/>
              </a:rPr>
              <a:t>、</a:t>
            </a:r>
            <a:r>
              <a:rPr lang="en-US" altLang="zh-CN" sz="3000" dirty="0">
                <a:latin typeface="+mn-lt"/>
                <a:ea typeface="+mn-ea"/>
              </a:rPr>
              <a:t>3G</a:t>
            </a:r>
            <a:r>
              <a:rPr lang="zh-CN" altLang="en-US" sz="3000" dirty="0">
                <a:latin typeface="+mn-lt"/>
                <a:ea typeface="+mn-ea"/>
              </a:rPr>
              <a:t>等网络随时随地接入</a:t>
            </a:r>
            <a:endParaRPr lang="en-US" altLang="zh-CN" sz="3000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altLang="zh-CN" sz="3000" dirty="0">
                <a:latin typeface="+mn-lt"/>
                <a:ea typeface="+mn-ea"/>
              </a:rPr>
              <a:t>	9</a:t>
            </a:r>
            <a:r>
              <a:rPr lang="zh-CN" altLang="en-US" sz="3000" dirty="0">
                <a:latin typeface="+mn-lt"/>
                <a:ea typeface="+mn-ea"/>
              </a:rPr>
              <a:t>、提升用户网络流量</a:t>
            </a:r>
            <a:endParaRPr lang="en-US" altLang="zh-CN" sz="3000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7" name="Group 38"/>
          <p:cNvGrpSpPr>
            <a:grpSpLocks/>
          </p:cNvGrpSpPr>
          <p:nvPr/>
        </p:nvGrpSpPr>
        <p:grpSpPr bwMode="auto">
          <a:xfrm>
            <a:off x="1474788" y="830263"/>
            <a:ext cx="1874837" cy="771525"/>
            <a:chOff x="974" y="1344"/>
            <a:chExt cx="1181" cy="486"/>
          </a:xfrm>
        </p:grpSpPr>
        <p:pic>
          <p:nvPicPr>
            <p:cNvPr id="34843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第一部分</a:t>
              </a:r>
            </a:p>
          </p:txBody>
        </p:sp>
      </p:grpSp>
      <p:grpSp>
        <p:nvGrpSpPr>
          <p:cNvPr id="34818" name="Group 43"/>
          <p:cNvGrpSpPr>
            <a:grpSpLocks/>
          </p:cNvGrpSpPr>
          <p:nvPr/>
        </p:nvGrpSpPr>
        <p:grpSpPr bwMode="auto">
          <a:xfrm>
            <a:off x="3562350" y="854075"/>
            <a:ext cx="4033838" cy="747713"/>
            <a:chOff x="2245" y="1348"/>
            <a:chExt cx="2541" cy="471"/>
          </a:xfrm>
        </p:grpSpPr>
        <p:pic>
          <p:nvPicPr>
            <p:cNvPr id="34841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FFFFFF">
                    <a:gamma/>
                    <a:shade val="84706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FFFFFF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92075" algn="ctr">
                <a:buFont typeface="Wingdings" pitchFamily="2" charset="2"/>
                <a:buNone/>
                <a:defRPr/>
              </a:pPr>
              <a:r>
                <a:rPr lang="zh-CN" altLang="en-US" sz="2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冉思科技简介</a:t>
              </a:r>
              <a:endParaRPr lang="zh-CN" alt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4819" name="Group 38"/>
          <p:cNvGrpSpPr>
            <a:grpSpLocks/>
          </p:cNvGrpSpPr>
          <p:nvPr/>
        </p:nvGrpSpPr>
        <p:grpSpPr bwMode="auto">
          <a:xfrm>
            <a:off x="1474788" y="1765300"/>
            <a:ext cx="1874837" cy="771525"/>
            <a:chOff x="974" y="1344"/>
            <a:chExt cx="1181" cy="486"/>
          </a:xfrm>
        </p:grpSpPr>
        <p:pic>
          <p:nvPicPr>
            <p:cNvPr id="34839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第二部分</a:t>
              </a:r>
            </a:p>
          </p:txBody>
        </p:sp>
      </p:grpSp>
      <p:grpSp>
        <p:nvGrpSpPr>
          <p:cNvPr id="34820" name="Group 43"/>
          <p:cNvGrpSpPr>
            <a:grpSpLocks/>
          </p:cNvGrpSpPr>
          <p:nvPr/>
        </p:nvGrpSpPr>
        <p:grpSpPr bwMode="auto">
          <a:xfrm>
            <a:off x="3562350" y="1789113"/>
            <a:ext cx="4033838" cy="747712"/>
            <a:chOff x="2245" y="1348"/>
            <a:chExt cx="2541" cy="471"/>
          </a:xfrm>
        </p:grpSpPr>
        <p:pic>
          <p:nvPicPr>
            <p:cNvPr id="34837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</p:pic>
        <p:sp>
          <p:nvSpPr>
            <p:cNvPr id="34838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  <p:txBody>
            <a:bodyPr wrap="none" anchor="ctr"/>
            <a:lstStyle/>
            <a:p>
              <a:pPr marL="92075" algn="ctr"/>
              <a:r>
                <a:rPr lang="zh-CN" altLang="en-US" sz="20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业务背景介绍</a:t>
              </a:r>
            </a:p>
          </p:txBody>
        </p:sp>
      </p:grpSp>
      <p:grpSp>
        <p:nvGrpSpPr>
          <p:cNvPr id="34821" name="Group 38"/>
          <p:cNvGrpSpPr>
            <a:grpSpLocks/>
          </p:cNvGrpSpPr>
          <p:nvPr/>
        </p:nvGrpSpPr>
        <p:grpSpPr bwMode="auto">
          <a:xfrm>
            <a:off x="1473200" y="2630488"/>
            <a:ext cx="1874838" cy="771525"/>
            <a:chOff x="974" y="1344"/>
            <a:chExt cx="1181" cy="486"/>
          </a:xfrm>
        </p:grpSpPr>
        <p:pic>
          <p:nvPicPr>
            <p:cNvPr id="34835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第三部分</a:t>
              </a:r>
            </a:p>
          </p:txBody>
        </p:sp>
      </p:grpSp>
      <p:grpSp>
        <p:nvGrpSpPr>
          <p:cNvPr id="34822" name="Group 43"/>
          <p:cNvGrpSpPr>
            <a:grpSpLocks/>
          </p:cNvGrpSpPr>
          <p:nvPr/>
        </p:nvGrpSpPr>
        <p:grpSpPr bwMode="auto">
          <a:xfrm>
            <a:off x="3560763" y="2654300"/>
            <a:ext cx="4033837" cy="747713"/>
            <a:chOff x="2245" y="1348"/>
            <a:chExt cx="2541" cy="471"/>
          </a:xfrm>
        </p:grpSpPr>
        <p:pic>
          <p:nvPicPr>
            <p:cNvPr id="34833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</p:pic>
        <p:sp>
          <p:nvSpPr>
            <p:cNvPr id="34834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  <p:txBody>
            <a:bodyPr wrap="none" anchor="ctr"/>
            <a:lstStyle/>
            <a:p>
              <a:pPr marL="92075" algn="ctr">
                <a:buFont typeface="Wingdings" pitchFamily="2" charset="2"/>
                <a:buNone/>
              </a:pPr>
              <a:endPara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4823" name="Group 38"/>
          <p:cNvGrpSpPr>
            <a:grpSpLocks/>
          </p:cNvGrpSpPr>
          <p:nvPr/>
        </p:nvGrpSpPr>
        <p:grpSpPr bwMode="auto">
          <a:xfrm>
            <a:off x="1473200" y="3441700"/>
            <a:ext cx="1874838" cy="771525"/>
            <a:chOff x="974" y="1344"/>
            <a:chExt cx="1181" cy="486"/>
          </a:xfrm>
        </p:grpSpPr>
        <p:pic>
          <p:nvPicPr>
            <p:cNvPr id="34831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第四部分</a:t>
              </a:r>
            </a:p>
          </p:txBody>
        </p:sp>
      </p:grpSp>
      <p:grpSp>
        <p:nvGrpSpPr>
          <p:cNvPr id="34824" name="Group 43"/>
          <p:cNvGrpSpPr>
            <a:grpSpLocks/>
          </p:cNvGrpSpPr>
          <p:nvPr/>
        </p:nvGrpSpPr>
        <p:grpSpPr bwMode="auto">
          <a:xfrm>
            <a:off x="3560763" y="3465513"/>
            <a:ext cx="4033837" cy="747712"/>
            <a:chOff x="2245" y="1348"/>
            <a:chExt cx="2541" cy="471"/>
          </a:xfrm>
        </p:grpSpPr>
        <p:pic>
          <p:nvPicPr>
            <p:cNvPr id="34829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830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  <p:txBody>
            <a:bodyPr wrap="none" anchor="ctr"/>
            <a:lstStyle/>
            <a:p>
              <a:pPr marL="92075" algn="ctr"/>
              <a:r>
                <a:rPr lang="zh-CN" altLang="en-US" sz="20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小额支付运营介绍</a:t>
              </a:r>
            </a:p>
          </p:txBody>
        </p:sp>
      </p:grpSp>
      <p:sp>
        <p:nvSpPr>
          <p:cNvPr id="32" name="右箭头 31"/>
          <p:cNvSpPr/>
          <p:nvPr/>
        </p:nvSpPr>
        <p:spPr>
          <a:xfrm>
            <a:off x="785786" y="2650915"/>
            <a:ext cx="576064" cy="627063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4828" name="矩形 34"/>
          <p:cNvSpPr>
            <a:spLocks noChangeArrowheads="1"/>
          </p:cNvSpPr>
          <p:nvPr/>
        </p:nvSpPr>
        <p:spPr bwMode="auto">
          <a:xfrm>
            <a:off x="4414838" y="2774950"/>
            <a:ext cx="23288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92075" algn="ctr"/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小额支付产品介绍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1" name="组合 3"/>
          <p:cNvGrpSpPr>
            <a:grpSpLocks/>
          </p:cNvGrpSpPr>
          <p:nvPr/>
        </p:nvGrpSpPr>
        <p:grpSpPr bwMode="auto">
          <a:xfrm>
            <a:off x="1042988" y="1158875"/>
            <a:ext cx="7059612" cy="3616325"/>
            <a:chOff x="1043608" y="998434"/>
            <a:chExt cx="7059342" cy="3255143"/>
          </a:xfrm>
        </p:grpSpPr>
        <p:sp>
          <p:nvSpPr>
            <p:cNvPr id="5" name="五边形 4"/>
            <p:cNvSpPr/>
            <p:nvPr/>
          </p:nvSpPr>
          <p:spPr>
            <a:xfrm>
              <a:off x="1043608" y="1059879"/>
              <a:ext cx="2087482" cy="647313"/>
            </a:xfrm>
            <a:prstGeom prst="homePlat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b="1" dirty="0"/>
                <a:t>商户接入及应用的条件？</a:t>
              </a:r>
              <a:endParaRPr lang="zh-CN" altLang="en-US" b="1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491439" y="998434"/>
              <a:ext cx="4608336" cy="7330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285750" indent="-285750">
                <a:buFont typeface="Wingdings" pitchFamily="2" charset="2"/>
                <a:buChar char="Ø"/>
                <a:defRPr/>
              </a:pPr>
              <a:r>
                <a:rPr lang="zh-CN" altLang="en-US" dirty="0">
                  <a:latin typeface="+mn-ea"/>
                </a:rPr>
                <a:t>商户拥有自己的手机客户端</a:t>
              </a:r>
              <a:endParaRPr lang="en-US" altLang="zh-CN" dirty="0">
                <a:latin typeface="+mn-ea"/>
              </a:endParaRPr>
            </a:p>
            <a:p>
              <a:pPr marL="285750" indent="-285750">
                <a:buFont typeface="Wingdings" pitchFamily="2" charset="2"/>
                <a:buChar char="Ø"/>
                <a:defRPr/>
              </a:pPr>
              <a:r>
                <a:rPr lang="zh-CN" altLang="en-US" dirty="0">
                  <a:latin typeface="+mn-ea"/>
                </a:rPr>
                <a:t>拥有开拓无线互联网市场的需求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8" name="五边形 7"/>
            <p:cNvSpPr/>
            <p:nvPr/>
          </p:nvSpPr>
          <p:spPr>
            <a:xfrm>
              <a:off x="1046783" y="2303064"/>
              <a:ext cx="2087482" cy="647313"/>
            </a:xfrm>
            <a:prstGeom prst="homePlat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b="1" dirty="0"/>
                <a:t>用户使用应具备的条件？</a:t>
              </a:r>
              <a:endParaRPr lang="zh-CN" altLang="en-US" b="1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3494614" y="2241619"/>
              <a:ext cx="4608336" cy="77020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285750" indent="-285750">
                <a:buFont typeface="Wingdings" pitchFamily="2" charset="2"/>
                <a:buChar char="Ø"/>
                <a:defRPr/>
              </a:pPr>
              <a:r>
                <a:rPr lang="zh-CN" altLang="en-US" dirty="0">
                  <a:latin typeface="+mn-ea"/>
                </a:rPr>
                <a:t>拥有一部能上网的智能手机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10" name="五边形 9"/>
            <p:cNvSpPr/>
            <p:nvPr/>
          </p:nvSpPr>
          <p:spPr>
            <a:xfrm>
              <a:off x="1043608" y="3573398"/>
              <a:ext cx="2087482" cy="648742"/>
            </a:xfrm>
            <a:prstGeom prst="homePlat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b="1" dirty="0"/>
                <a:t>插件类型及实现模式？</a:t>
              </a:r>
              <a:endParaRPr lang="zh-CN" altLang="en-US" b="1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91439" y="3527672"/>
              <a:ext cx="4608336" cy="725905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285750" indent="-285750">
                <a:buFont typeface="Wingdings" pitchFamily="2" charset="2"/>
                <a:buChar char="Ø"/>
                <a:defRPr/>
              </a:pPr>
              <a:r>
                <a:rPr lang="zh-CN" altLang="en-US" dirty="0">
                  <a:latin typeface="+mn-ea"/>
                </a:rPr>
                <a:t>开发包形式嵌入商户手机客户端</a:t>
              </a:r>
              <a:endParaRPr lang="en-US" altLang="zh-CN" dirty="0">
                <a:latin typeface="+mn-ea"/>
              </a:endParaRPr>
            </a:p>
            <a:p>
              <a:pPr marL="285750" indent="-285750">
                <a:buFont typeface="Wingdings" pitchFamily="2" charset="2"/>
                <a:buChar char="Ø"/>
                <a:defRPr/>
              </a:pPr>
              <a:r>
                <a:rPr lang="zh-CN" altLang="en-US" dirty="0">
                  <a:latin typeface="+mn-ea"/>
                </a:rPr>
                <a:t>独立</a:t>
              </a:r>
              <a:r>
                <a:rPr lang="en-US" altLang="zh-CN" dirty="0">
                  <a:latin typeface="+mn-ea"/>
                </a:rPr>
                <a:t>APP</a:t>
              </a:r>
              <a:endParaRPr lang="zh-CN" altLang="en-US" dirty="0">
                <a:latin typeface="+mn-ea"/>
              </a:endParaRPr>
            </a:p>
          </p:txBody>
        </p:sp>
      </p:grpSp>
      <p:cxnSp>
        <p:nvCxnSpPr>
          <p:cNvPr id="13" name="直接连接符 12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43" name="TextBox 13"/>
          <p:cNvSpPr txBox="1">
            <a:spLocks noChangeArrowheads="1"/>
          </p:cNvSpPr>
          <p:nvPr/>
        </p:nvSpPr>
        <p:spPr bwMode="auto">
          <a:xfrm>
            <a:off x="23813" y="34925"/>
            <a:ext cx="30702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手机小额支付环境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内容占位符 2"/>
          <p:cNvSpPr>
            <a:spLocks noGrp="1"/>
          </p:cNvSpPr>
          <p:nvPr>
            <p:ph idx="4294967295"/>
          </p:nvPr>
        </p:nvSpPr>
        <p:spPr>
          <a:xfrm>
            <a:off x="468313" y="681038"/>
            <a:ext cx="8229600" cy="1839912"/>
          </a:xfrm>
        </p:spPr>
        <p:txBody>
          <a:bodyPr/>
          <a:lstStyle/>
          <a:p>
            <a:pPr eaLnBrk="1" hangingPunct="1"/>
            <a:r>
              <a:rPr lang="zh-CN" altLang="en-US" sz="2000" smtClean="0">
                <a:latin typeface="华文中宋" pitchFamily="2" charset="-122"/>
                <a:ea typeface="华文中宋" pitchFamily="2" charset="-122"/>
              </a:rPr>
              <a:t>手机</a:t>
            </a:r>
            <a:r>
              <a:rPr lang="en-US" altLang="zh-CN" sz="2000" smtClean="0">
                <a:latin typeface="华文中宋" pitchFamily="2" charset="-122"/>
                <a:ea typeface="华文中宋" pitchFamily="2" charset="-122"/>
              </a:rPr>
              <a:t>APP</a:t>
            </a:r>
          </a:p>
          <a:p>
            <a:pPr eaLnBrk="1" hangingPunct="1">
              <a:buFont typeface="Arial" pitchFamily="34" charset="0"/>
              <a:buNone/>
            </a:pPr>
            <a:r>
              <a:rPr lang="zh-CN" altLang="en-US" sz="2000" smtClean="0">
                <a:latin typeface="华文中宋" pitchFamily="2" charset="-122"/>
                <a:ea typeface="华文中宋" pitchFamily="2" charset="-122"/>
              </a:rPr>
              <a:t>独立</a:t>
            </a:r>
            <a:r>
              <a:rPr lang="en-US" altLang="zh-CN" sz="2000" smtClean="0">
                <a:latin typeface="华文中宋" pitchFamily="2" charset="-122"/>
                <a:ea typeface="华文中宋" pitchFamily="2" charset="-122"/>
              </a:rPr>
              <a:t>APP</a:t>
            </a:r>
            <a:r>
              <a:rPr lang="zh-CN" altLang="en-US" sz="2000" smtClean="0">
                <a:latin typeface="华文中宋" pitchFamily="2" charset="-122"/>
                <a:ea typeface="华文中宋" pitchFamily="2" charset="-122"/>
              </a:rPr>
              <a:t>应用，内含多种充值应用，用户通过手机进行小额支付。</a:t>
            </a: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91" name="TextBox 7"/>
          <p:cNvSpPr txBox="1">
            <a:spLocks noChangeArrowheads="1"/>
          </p:cNvSpPr>
          <p:nvPr/>
        </p:nvSpPr>
        <p:spPr bwMode="auto">
          <a:xfrm>
            <a:off x="23813" y="34925"/>
            <a:ext cx="30702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手机小额支付方式</a:t>
            </a:r>
          </a:p>
        </p:txBody>
      </p:sp>
      <p:pic>
        <p:nvPicPr>
          <p:cNvPr id="37892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86150" y="1971675"/>
            <a:ext cx="1785938" cy="346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938" name="TextBox 7"/>
          <p:cNvSpPr txBox="1">
            <a:spLocks noChangeArrowheads="1"/>
          </p:cNvSpPr>
          <p:nvPr/>
        </p:nvSpPr>
        <p:spPr bwMode="auto">
          <a:xfrm>
            <a:off x="23813" y="34925"/>
            <a:ext cx="30702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手机小额支付方式</a:t>
            </a:r>
          </a:p>
        </p:txBody>
      </p:sp>
      <p:sp>
        <p:nvSpPr>
          <p:cNvPr id="39939" name="内容占位符 2"/>
          <p:cNvSpPr>
            <a:spLocks noGrp="1"/>
          </p:cNvSpPr>
          <p:nvPr>
            <p:ph idx="4294967295"/>
          </p:nvPr>
        </p:nvSpPr>
        <p:spPr>
          <a:xfrm>
            <a:off x="455613" y="684213"/>
            <a:ext cx="8229600" cy="1676400"/>
          </a:xfrm>
        </p:spPr>
        <p:txBody>
          <a:bodyPr/>
          <a:lstStyle/>
          <a:p>
            <a:pPr eaLnBrk="1" hangingPunct="1"/>
            <a:r>
              <a:rPr lang="zh-CN" altLang="en-US" sz="2000" smtClean="0">
                <a:latin typeface="华文中宋" pitchFamily="2" charset="-122"/>
                <a:ea typeface="华文中宋" pitchFamily="2" charset="-122"/>
              </a:rPr>
              <a:t>手机插件</a:t>
            </a:r>
            <a:endParaRPr lang="en-US" altLang="zh-CN" sz="2000" smtClean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buFont typeface="Arial" pitchFamily="34" charset="0"/>
              <a:buNone/>
            </a:pPr>
            <a:r>
              <a:rPr lang="zh-CN" altLang="en-US" sz="2000" smtClean="0">
                <a:latin typeface="华文中宋" pitchFamily="2" charset="-122"/>
                <a:ea typeface="华文中宋" pitchFamily="2" charset="-122"/>
              </a:rPr>
              <a:t>以安全插件形式嵌入商户的</a:t>
            </a:r>
            <a:r>
              <a:rPr lang="en-US" altLang="zh-CN" sz="2000" smtClean="0">
                <a:latin typeface="华文中宋" pitchFamily="2" charset="-122"/>
                <a:ea typeface="华文中宋" pitchFamily="2" charset="-122"/>
              </a:rPr>
              <a:t>APP</a:t>
            </a:r>
            <a:r>
              <a:rPr lang="zh-CN" altLang="en-US" sz="2000" smtClean="0">
                <a:latin typeface="华文中宋" pitchFamily="2" charset="-122"/>
                <a:ea typeface="华文中宋" pitchFamily="2" charset="-122"/>
              </a:rPr>
              <a:t>中，通过商户手机端即可调用小额支付</a:t>
            </a:r>
            <a:endParaRPr lang="en-US" altLang="zh-CN" sz="2000" smtClean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buFont typeface="Arial" pitchFamily="34" charset="0"/>
              <a:buNone/>
            </a:pPr>
            <a:r>
              <a:rPr lang="zh-CN" altLang="en-US" sz="2000" smtClean="0">
                <a:latin typeface="华文中宋" pitchFamily="2" charset="-122"/>
                <a:ea typeface="华文中宋" pitchFamily="2" charset="-122"/>
              </a:rPr>
              <a:t>插件，构筑用户随时随地、安全便捷的支付体验。</a:t>
            </a:r>
          </a:p>
        </p:txBody>
      </p:sp>
      <p:pic>
        <p:nvPicPr>
          <p:cNvPr id="3994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86150" y="1887538"/>
            <a:ext cx="1751013" cy="3395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8238" y="1400175"/>
            <a:ext cx="6867525" cy="291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/>
            <a:ext uri="{91240B29-F687-4F45-9708-019B960494DF}"/>
          </a:extLst>
        </p:spPr>
      </p:pic>
      <p:cxnSp>
        <p:nvCxnSpPr>
          <p:cNvPr id="5" name="直接连接符 4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155" name="TextBox 5"/>
          <p:cNvSpPr txBox="1">
            <a:spLocks noChangeArrowheads="1"/>
          </p:cNvSpPr>
          <p:nvPr/>
        </p:nvSpPr>
        <p:spPr bwMode="auto">
          <a:xfrm>
            <a:off x="23813" y="34925"/>
            <a:ext cx="47894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支付流程（购买</a:t>
            </a:r>
            <a:r>
              <a:rPr lang="en-US" altLang="zh-CN" sz="2800" b="1">
                <a:solidFill>
                  <a:srgbClr val="990033"/>
                </a:solidFill>
              </a:rPr>
              <a:t>Q</a:t>
            </a:r>
            <a:r>
              <a:rPr lang="zh-CN" altLang="en-US" sz="2800" b="1">
                <a:solidFill>
                  <a:srgbClr val="990033"/>
                </a:solidFill>
              </a:rPr>
              <a:t>币</a:t>
            </a:r>
            <a:r>
              <a:rPr lang="en-US" altLang="zh-CN" sz="2800" b="1">
                <a:solidFill>
                  <a:srgbClr val="990033"/>
                </a:solidFill>
              </a:rPr>
              <a:t>—</a:t>
            </a:r>
            <a:r>
              <a:rPr lang="zh-CN" altLang="en-US" sz="2800" b="1">
                <a:solidFill>
                  <a:srgbClr val="990033"/>
                </a:solidFill>
              </a:rPr>
              <a:t>卡密）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12863" y="1208088"/>
            <a:ext cx="6692900" cy="3387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/>
            <a:ext uri="{91240B29-F687-4F45-9708-019B960494DF}"/>
          </a:extLst>
        </p:spPr>
      </p:pic>
      <p:cxnSp>
        <p:nvCxnSpPr>
          <p:cNvPr id="5" name="直接连接符 4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35" name="TextBox 5"/>
          <p:cNvSpPr txBox="1">
            <a:spLocks noChangeArrowheads="1"/>
          </p:cNvSpPr>
          <p:nvPr/>
        </p:nvSpPr>
        <p:spPr bwMode="auto">
          <a:xfrm>
            <a:off x="23813" y="34925"/>
            <a:ext cx="47894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支付流程（购买</a:t>
            </a:r>
            <a:r>
              <a:rPr lang="en-US" altLang="zh-CN" sz="2800" b="1">
                <a:solidFill>
                  <a:srgbClr val="990033"/>
                </a:solidFill>
              </a:rPr>
              <a:t>Q</a:t>
            </a:r>
            <a:r>
              <a:rPr lang="zh-CN" altLang="en-US" sz="2800" b="1">
                <a:solidFill>
                  <a:srgbClr val="990033"/>
                </a:solidFill>
              </a:rPr>
              <a:t>币</a:t>
            </a:r>
            <a:r>
              <a:rPr lang="en-US" altLang="zh-CN" sz="2800" b="1">
                <a:solidFill>
                  <a:srgbClr val="990033"/>
                </a:solidFill>
              </a:rPr>
              <a:t>—</a:t>
            </a:r>
            <a:r>
              <a:rPr lang="zh-CN" altLang="en-US" sz="2800" b="1">
                <a:solidFill>
                  <a:srgbClr val="990033"/>
                </a:solidFill>
              </a:rPr>
              <a:t>直冲）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2382838" y="695325"/>
          <a:ext cx="4572000" cy="4681538"/>
        </p:xfrm>
        <a:graphic>
          <a:graphicData uri="http://schemas.openxmlformats.org/presentationml/2006/ole">
            <p:oleObj spid="_x0000_s40962" name="Visio" r:id="rId3" imgW="5200527" imgH="5326837" progId="Visio.Drawing.11">
              <p:embed/>
            </p:oleObj>
          </a:graphicData>
        </a:graphic>
      </p:graphicFrame>
      <p:sp>
        <p:nvSpPr>
          <p:cNvPr id="8" name="矩形 7"/>
          <p:cNvSpPr/>
          <p:nvPr/>
        </p:nvSpPr>
        <p:spPr>
          <a:xfrm>
            <a:off x="2382838" y="4867275"/>
            <a:ext cx="4572000" cy="749300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096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66" name="TextBox 8"/>
          <p:cNvSpPr txBox="1">
            <a:spLocks noChangeArrowheads="1"/>
          </p:cNvSpPr>
          <p:nvPr/>
        </p:nvSpPr>
        <p:spPr bwMode="auto">
          <a:xfrm>
            <a:off x="23813" y="34925"/>
            <a:ext cx="1987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系统架构图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1"/>
          <p:cNvSpPr>
            <a:spLocks noGrp="1"/>
          </p:cNvSpPr>
          <p:nvPr>
            <p:ph type="title"/>
          </p:nvPr>
        </p:nvSpPr>
        <p:spPr>
          <a:xfrm>
            <a:off x="595313" y="66675"/>
            <a:ext cx="8153400" cy="885825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华文楷体" pitchFamily="2" charset="-122"/>
                <a:ea typeface="华文楷体" pitchFamily="2" charset="-122"/>
              </a:rPr>
              <a:t>小额支付平台（模块划分）</a:t>
            </a:r>
          </a:p>
        </p:txBody>
      </p:sp>
      <p:sp>
        <p:nvSpPr>
          <p:cNvPr id="41989" name="Rectangle 2"/>
          <p:cNvSpPr>
            <a:spLocks noChangeArrowheads="1"/>
          </p:cNvSpPr>
          <p:nvPr/>
        </p:nvSpPr>
        <p:spPr bwMode="auto">
          <a:xfrm>
            <a:off x="0" y="-206375"/>
            <a:ext cx="1841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144463" y="1192213"/>
          <a:ext cx="4356100" cy="2160587"/>
        </p:xfrm>
        <a:graphic>
          <a:graphicData uri="http://schemas.openxmlformats.org/presentationml/2006/ole">
            <p:oleObj spid="_x0000_s41986" name="Visio" r:id="rId4" imgW="3990706" imgH="1776679" progId="Visio.Drawing.11">
              <p:embed/>
            </p:oleObj>
          </a:graphicData>
        </a:graphic>
      </p:graphicFrame>
      <p:sp>
        <p:nvSpPr>
          <p:cNvPr id="41990" name="Rectangle 4"/>
          <p:cNvSpPr>
            <a:spLocks noChangeArrowheads="1"/>
          </p:cNvSpPr>
          <p:nvPr/>
        </p:nvSpPr>
        <p:spPr bwMode="auto">
          <a:xfrm>
            <a:off x="0" y="-206375"/>
            <a:ext cx="1841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3184525" y="2792413"/>
          <a:ext cx="5924550" cy="2197100"/>
        </p:xfrm>
        <a:graphic>
          <a:graphicData uri="http://schemas.openxmlformats.org/presentationml/2006/ole">
            <p:oleObj spid="_x0000_s41987" name="Visio" r:id="rId5" imgW="5304832" imgH="1776679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华文楷体" pitchFamily="2" charset="-122"/>
                <a:ea typeface="华文楷体" pitchFamily="2" charset="-122"/>
              </a:rPr>
              <a:t>运营管理平台（模块划分）</a:t>
            </a:r>
          </a:p>
        </p:txBody>
      </p:sp>
      <p:sp>
        <p:nvSpPr>
          <p:cNvPr id="43012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013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014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1187450" y="1417638"/>
          <a:ext cx="6637338" cy="3360737"/>
        </p:xfrm>
        <a:graphic>
          <a:graphicData uri="http://schemas.openxmlformats.org/presentationml/2006/ole">
            <p:oleObj spid="_x0000_s43010" name="Visio" r:id="rId4" imgW="5691449" imgH="2595982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3" name="Group 38"/>
          <p:cNvGrpSpPr>
            <a:grpSpLocks/>
          </p:cNvGrpSpPr>
          <p:nvPr/>
        </p:nvGrpSpPr>
        <p:grpSpPr bwMode="auto">
          <a:xfrm>
            <a:off x="1474788" y="830263"/>
            <a:ext cx="1874837" cy="771525"/>
            <a:chOff x="974" y="1344"/>
            <a:chExt cx="1181" cy="486"/>
          </a:xfrm>
        </p:grpSpPr>
        <p:pic>
          <p:nvPicPr>
            <p:cNvPr id="54299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第一部分</a:t>
              </a:r>
            </a:p>
          </p:txBody>
        </p:sp>
      </p:grpSp>
      <p:grpSp>
        <p:nvGrpSpPr>
          <p:cNvPr id="54274" name="Group 43"/>
          <p:cNvGrpSpPr>
            <a:grpSpLocks/>
          </p:cNvGrpSpPr>
          <p:nvPr/>
        </p:nvGrpSpPr>
        <p:grpSpPr bwMode="auto">
          <a:xfrm>
            <a:off x="3562350" y="854075"/>
            <a:ext cx="4033838" cy="747713"/>
            <a:chOff x="2245" y="1348"/>
            <a:chExt cx="2541" cy="471"/>
          </a:xfrm>
        </p:grpSpPr>
        <p:pic>
          <p:nvPicPr>
            <p:cNvPr id="54297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FFFFFF">
                    <a:gamma/>
                    <a:shade val="84706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FFFFFF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92075" algn="ctr">
                <a:buFont typeface="Wingdings" pitchFamily="2" charset="2"/>
                <a:buNone/>
                <a:defRPr/>
              </a:pPr>
              <a:r>
                <a:rPr lang="zh-CN" altLang="en-US" sz="2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冉思科技简介</a:t>
              </a:r>
              <a:endParaRPr lang="zh-CN" alt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4275" name="Group 38"/>
          <p:cNvGrpSpPr>
            <a:grpSpLocks/>
          </p:cNvGrpSpPr>
          <p:nvPr/>
        </p:nvGrpSpPr>
        <p:grpSpPr bwMode="auto">
          <a:xfrm>
            <a:off x="1474788" y="1765300"/>
            <a:ext cx="1874837" cy="771525"/>
            <a:chOff x="974" y="1344"/>
            <a:chExt cx="1181" cy="486"/>
          </a:xfrm>
        </p:grpSpPr>
        <p:pic>
          <p:nvPicPr>
            <p:cNvPr id="54295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第二部分</a:t>
              </a:r>
            </a:p>
          </p:txBody>
        </p:sp>
      </p:grpSp>
      <p:grpSp>
        <p:nvGrpSpPr>
          <p:cNvPr id="54276" name="Group 43"/>
          <p:cNvGrpSpPr>
            <a:grpSpLocks/>
          </p:cNvGrpSpPr>
          <p:nvPr/>
        </p:nvGrpSpPr>
        <p:grpSpPr bwMode="auto">
          <a:xfrm>
            <a:off x="3562350" y="1789113"/>
            <a:ext cx="4033838" cy="747712"/>
            <a:chOff x="2245" y="1348"/>
            <a:chExt cx="2541" cy="471"/>
          </a:xfrm>
        </p:grpSpPr>
        <p:pic>
          <p:nvPicPr>
            <p:cNvPr id="54293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</p:pic>
        <p:sp>
          <p:nvSpPr>
            <p:cNvPr id="54294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  <p:txBody>
            <a:bodyPr wrap="none" anchor="ctr"/>
            <a:lstStyle/>
            <a:p>
              <a:pPr marL="92075" algn="ctr"/>
              <a:r>
                <a:rPr lang="zh-CN" altLang="en-US" sz="20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业务背景介绍</a:t>
              </a:r>
            </a:p>
          </p:txBody>
        </p:sp>
      </p:grpSp>
      <p:grpSp>
        <p:nvGrpSpPr>
          <p:cNvPr id="54277" name="Group 38"/>
          <p:cNvGrpSpPr>
            <a:grpSpLocks/>
          </p:cNvGrpSpPr>
          <p:nvPr/>
        </p:nvGrpSpPr>
        <p:grpSpPr bwMode="auto">
          <a:xfrm>
            <a:off x="1473200" y="2630488"/>
            <a:ext cx="1874838" cy="771525"/>
            <a:chOff x="974" y="1344"/>
            <a:chExt cx="1181" cy="486"/>
          </a:xfrm>
        </p:grpSpPr>
        <p:pic>
          <p:nvPicPr>
            <p:cNvPr id="54291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第三部分</a:t>
              </a:r>
            </a:p>
          </p:txBody>
        </p:sp>
      </p:grpSp>
      <p:grpSp>
        <p:nvGrpSpPr>
          <p:cNvPr id="54278" name="Group 43"/>
          <p:cNvGrpSpPr>
            <a:grpSpLocks/>
          </p:cNvGrpSpPr>
          <p:nvPr/>
        </p:nvGrpSpPr>
        <p:grpSpPr bwMode="auto">
          <a:xfrm>
            <a:off x="3560763" y="2654300"/>
            <a:ext cx="4033837" cy="747713"/>
            <a:chOff x="2245" y="1348"/>
            <a:chExt cx="2541" cy="471"/>
          </a:xfrm>
        </p:grpSpPr>
        <p:pic>
          <p:nvPicPr>
            <p:cNvPr id="54289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</p:pic>
        <p:sp>
          <p:nvSpPr>
            <p:cNvPr id="54290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  <p:txBody>
            <a:bodyPr wrap="none" anchor="ctr"/>
            <a:lstStyle/>
            <a:p>
              <a:pPr marL="92075" algn="ctr">
                <a:buFont typeface="Wingdings" pitchFamily="2" charset="2"/>
                <a:buNone/>
              </a:pPr>
              <a:endPara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4279" name="Group 38"/>
          <p:cNvGrpSpPr>
            <a:grpSpLocks/>
          </p:cNvGrpSpPr>
          <p:nvPr/>
        </p:nvGrpSpPr>
        <p:grpSpPr bwMode="auto">
          <a:xfrm>
            <a:off x="1473200" y="3441700"/>
            <a:ext cx="1874838" cy="771525"/>
            <a:chOff x="974" y="1344"/>
            <a:chExt cx="1181" cy="486"/>
          </a:xfrm>
        </p:grpSpPr>
        <p:pic>
          <p:nvPicPr>
            <p:cNvPr id="54287" name="Picture 30" descr="阴影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1739"/>
              <a:ext cx="118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" name="AutoShape 8"/>
            <p:cNvSpPr>
              <a:spLocks noChangeArrowheads="1"/>
            </p:cNvSpPr>
            <p:nvPr/>
          </p:nvSpPr>
          <p:spPr bwMode="auto">
            <a:xfrm>
              <a:off x="974" y="1344"/>
              <a:ext cx="1166" cy="431"/>
            </a:xfrm>
            <a:prstGeom prst="roundRect">
              <a:avLst>
                <a:gd name="adj" fmla="val 8380"/>
              </a:avLst>
            </a:prstGeom>
            <a:gradFill rotWithShape="1">
              <a:gsLst>
                <a:gs pos="0">
                  <a:srgbClr val="0060C0"/>
                </a:gs>
                <a:gs pos="100000">
                  <a:srgbClr val="003B76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0060C0">
                  <a:gamma/>
                  <a:shade val="60000"/>
                  <a:invGamma/>
                </a:srgbClr>
              </a:prstShdw>
            </a:effectLst>
            <a:extLst/>
          </p:spPr>
          <p:txBody>
            <a:bodyPr wrap="none" anchor="ctr"/>
            <a:lstStyle/>
            <a:p>
              <a:pPr marL="342900" indent="-342900" algn="ctr" fontAlgn="auto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第四部分</a:t>
              </a:r>
            </a:p>
          </p:txBody>
        </p:sp>
      </p:grpSp>
      <p:grpSp>
        <p:nvGrpSpPr>
          <p:cNvPr id="54280" name="Group 43"/>
          <p:cNvGrpSpPr>
            <a:grpSpLocks/>
          </p:cNvGrpSpPr>
          <p:nvPr/>
        </p:nvGrpSpPr>
        <p:grpSpPr bwMode="auto">
          <a:xfrm>
            <a:off x="3560763" y="3465513"/>
            <a:ext cx="4033837" cy="747712"/>
            <a:chOff x="2245" y="1348"/>
            <a:chExt cx="2541" cy="471"/>
          </a:xfrm>
        </p:grpSpPr>
        <p:pic>
          <p:nvPicPr>
            <p:cNvPr id="54285" name="Picture 37" descr="阴影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45" y="1728"/>
              <a:ext cx="2540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286" name="AutoShape 5"/>
            <p:cNvSpPr>
              <a:spLocks noChangeArrowheads="1"/>
            </p:cNvSpPr>
            <p:nvPr/>
          </p:nvSpPr>
          <p:spPr bwMode="auto">
            <a:xfrm>
              <a:off x="2245" y="1348"/>
              <a:ext cx="2541" cy="429"/>
            </a:xfrm>
            <a:prstGeom prst="roundRect">
              <a:avLst>
                <a:gd name="adj" fmla="val 991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999999"/>
              </a:prstShdw>
            </a:effectLst>
          </p:spPr>
          <p:txBody>
            <a:bodyPr wrap="none" anchor="ctr"/>
            <a:lstStyle/>
            <a:p>
              <a:pPr marL="92075" algn="ctr"/>
              <a:r>
                <a:rPr lang="zh-CN" altLang="en-US" sz="20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小额支付运营介绍</a:t>
              </a:r>
            </a:p>
          </p:txBody>
        </p:sp>
      </p:grpSp>
      <p:sp>
        <p:nvSpPr>
          <p:cNvPr id="32" name="右箭头 31"/>
          <p:cNvSpPr/>
          <p:nvPr/>
        </p:nvSpPr>
        <p:spPr>
          <a:xfrm>
            <a:off x="785786" y="3434665"/>
            <a:ext cx="576064" cy="627063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4284" name="矩形 34"/>
          <p:cNvSpPr>
            <a:spLocks noChangeArrowheads="1"/>
          </p:cNvSpPr>
          <p:nvPr/>
        </p:nvSpPr>
        <p:spPr bwMode="auto">
          <a:xfrm>
            <a:off x="4414838" y="2774950"/>
            <a:ext cx="23288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92075" algn="ctr"/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小额支付产品介绍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98" name="TextBox 11"/>
          <p:cNvSpPr txBox="1">
            <a:spLocks noChangeArrowheads="1"/>
          </p:cNvSpPr>
          <p:nvPr/>
        </p:nvSpPr>
        <p:spPr bwMode="auto">
          <a:xfrm>
            <a:off x="23813" y="34925"/>
            <a:ext cx="16271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商户推广</a:t>
            </a:r>
          </a:p>
        </p:txBody>
      </p:sp>
      <p:sp>
        <p:nvSpPr>
          <p:cNvPr id="55299" name="TextBox 4"/>
          <p:cNvSpPr txBox="1">
            <a:spLocks noChangeArrowheads="1"/>
          </p:cNvSpPr>
          <p:nvPr/>
        </p:nvSpPr>
        <p:spPr bwMode="auto">
          <a:xfrm>
            <a:off x="1057275" y="655638"/>
            <a:ext cx="7659688" cy="3563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>
                <a:solidFill>
                  <a:srgbClr val="00B050"/>
                </a:solidFill>
              </a:rPr>
              <a:t>1</a:t>
            </a:r>
            <a:r>
              <a:rPr lang="zh-CN" altLang="en-US" sz="2400" b="1">
                <a:solidFill>
                  <a:srgbClr val="00B050"/>
                </a:solidFill>
              </a:rPr>
              <a:t>、电信渠道推广</a:t>
            </a:r>
            <a:endParaRPr lang="en-US" altLang="zh-CN" sz="2400" b="1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B050"/>
                </a:solidFill>
              </a:rPr>
              <a:t>号百现有商户的小额支付通道</a:t>
            </a:r>
            <a:endParaRPr lang="en-US" altLang="zh-CN" sz="2400" b="1">
              <a:solidFill>
                <a:srgbClr val="00B050"/>
              </a:solidFill>
            </a:endParaRPr>
          </a:p>
          <a:p>
            <a:endParaRPr lang="en-US" altLang="zh-CN" sz="2400" b="1">
              <a:solidFill>
                <a:srgbClr val="00B050"/>
              </a:solidFill>
            </a:endParaRPr>
          </a:p>
          <a:p>
            <a:r>
              <a:rPr lang="en-US" altLang="zh-CN" sz="2400" b="1">
                <a:solidFill>
                  <a:srgbClr val="00B050"/>
                </a:solidFill>
              </a:rPr>
              <a:t>2</a:t>
            </a:r>
            <a:r>
              <a:rPr lang="zh-CN" altLang="en-US" sz="2400" b="1">
                <a:solidFill>
                  <a:srgbClr val="00B050"/>
                </a:solidFill>
              </a:rPr>
              <a:t>、自有渠道推广</a:t>
            </a:r>
            <a:endParaRPr lang="en-US" altLang="zh-CN" sz="2400" b="1">
              <a:solidFill>
                <a:srgbClr val="00B050"/>
              </a:solidFill>
            </a:endParaRPr>
          </a:p>
          <a:p>
            <a:r>
              <a:rPr lang="zh-CN" altLang="en-US" sz="2400" b="1">
                <a:solidFill>
                  <a:srgbClr val="00B050"/>
                </a:solidFill>
              </a:rPr>
              <a:t>电子订阅、手机游戏、低额保险、信息订购、包月付费</a:t>
            </a:r>
            <a:endParaRPr lang="en-US" altLang="zh-CN" sz="2400" b="1">
              <a:solidFill>
                <a:srgbClr val="00B050"/>
              </a:solidFill>
            </a:endParaRPr>
          </a:p>
          <a:p>
            <a:endParaRPr lang="en-US" altLang="zh-CN" sz="2400" b="1">
              <a:solidFill>
                <a:srgbClr val="00B050"/>
              </a:solidFill>
            </a:endParaRPr>
          </a:p>
          <a:p>
            <a:endParaRPr lang="en-US" altLang="zh-CN" sz="2400" b="1">
              <a:solidFill>
                <a:srgbClr val="00B050"/>
              </a:solidFill>
            </a:endParaRPr>
          </a:p>
          <a:p>
            <a:r>
              <a:rPr lang="en-US" altLang="zh-CN" sz="2400" b="1">
                <a:solidFill>
                  <a:srgbClr val="00B050"/>
                </a:solidFill>
              </a:rPr>
              <a:t>3</a:t>
            </a:r>
            <a:r>
              <a:rPr lang="zh-CN" altLang="en-US" sz="2400" b="1">
                <a:solidFill>
                  <a:srgbClr val="00B050"/>
                </a:solidFill>
              </a:rPr>
              <a:t>、合作渠道推广</a:t>
            </a:r>
            <a:endParaRPr lang="en-US" altLang="zh-CN" sz="2400" b="1">
              <a:solidFill>
                <a:srgbClr val="00B050"/>
              </a:solidFill>
            </a:endParaRPr>
          </a:p>
          <a:p>
            <a:r>
              <a:rPr lang="zh-CN" altLang="en-US" sz="2400" b="1">
                <a:solidFill>
                  <a:srgbClr val="00B050"/>
                </a:solidFill>
              </a:rPr>
              <a:t>各大网站、电商合作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322" name="TextBox 11"/>
          <p:cNvSpPr txBox="1">
            <a:spLocks noChangeArrowheads="1"/>
          </p:cNvSpPr>
          <p:nvPr/>
        </p:nvSpPr>
        <p:spPr bwMode="auto">
          <a:xfrm>
            <a:off x="23813" y="34925"/>
            <a:ext cx="16271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用户推广</a:t>
            </a:r>
          </a:p>
        </p:txBody>
      </p:sp>
      <p:sp>
        <p:nvSpPr>
          <p:cNvPr id="56323" name="TextBox 4"/>
          <p:cNvSpPr txBox="1">
            <a:spLocks noChangeArrowheads="1"/>
          </p:cNvSpPr>
          <p:nvPr/>
        </p:nvSpPr>
        <p:spPr bwMode="auto">
          <a:xfrm>
            <a:off x="1057275" y="655638"/>
            <a:ext cx="7659688" cy="407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/>
              <a:t>电信渠道推广：</a:t>
            </a:r>
            <a:r>
              <a:rPr lang="zh-CN" altLang="en-US" sz="2400" b="1">
                <a:solidFill>
                  <a:srgbClr val="00B050"/>
                </a:solidFill>
              </a:rPr>
              <a:t>合作伙伴网站（如腾讯），浙江号百门户网站，浙江号百自有</a:t>
            </a:r>
            <a:r>
              <a:rPr lang="en-US" altLang="zh-CN" sz="2400" b="1">
                <a:solidFill>
                  <a:srgbClr val="00B050"/>
                </a:solidFill>
              </a:rPr>
              <a:t>APP</a:t>
            </a:r>
            <a:r>
              <a:rPr lang="zh-CN" altLang="en-US" sz="2400" b="1">
                <a:solidFill>
                  <a:srgbClr val="00B050"/>
                </a:solidFill>
              </a:rPr>
              <a:t>升级植入，</a:t>
            </a:r>
            <a:r>
              <a:rPr lang="en-US" altLang="zh-CN" sz="2400" b="1">
                <a:solidFill>
                  <a:srgbClr val="00B050"/>
                </a:solidFill>
              </a:rPr>
              <a:t>168/160/114</a:t>
            </a:r>
            <a:r>
              <a:rPr lang="zh-CN" altLang="en-US" sz="2400" b="1">
                <a:solidFill>
                  <a:srgbClr val="00B050"/>
                </a:solidFill>
              </a:rPr>
              <a:t>语音短信提示，微博、微信推广，号百积分支付；</a:t>
            </a:r>
            <a:endParaRPr lang="en-US" altLang="zh-CN" sz="2400" b="1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sz="2400" b="1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400" b="1"/>
              <a:t>社会渠道推广：</a:t>
            </a:r>
            <a:r>
              <a:rPr lang="en-US" altLang="zh-CN" sz="2400" b="1">
                <a:solidFill>
                  <a:srgbClr val="00B050"/>
                </a:solidFill>
              </a:rPr>
              <a:t>APP</a:t>
            </a:r>
            <a:r>
              <a:rPr lang="zh-CN" altLang="en-US" sz="2400" b="1">
                <a:solidFill>
                  <a:srgbClr val="00B050"/>
                </a:solidFill>
              </a:rPr>
              <a:t>基础（包括下载市场类如安智，客户端类如豌豆荚 ，应用商店类如我查查，应用平台类如腾讯应用，</a:t>
            </a:r>
            <a:r>
              <a:rPr lang="en-US" altLang="zh-CN" sz="2400" b="1">
                <a:solidFill>
                  <a:srgbClr val="00B050"/>
                </a:solidFill>
              </a:rPr>
              <a:t>WAP</a:t>
            </a:r>
            <a:r>
              <a:rPr lang="zh-CN" altLang="en-US" sz="2400" b="1">
                <a:solidFill>
                  <a:srgbClr val="00B050"/>
                </a:solidFill>
              </a:rPr>
              <a:t>站类如</a:t>
            </a:r>
            <a:r>
              <a:rPr lang="en-US" altLang="zh-CN" sz="2400" b="1">
                <a:solidFill>
                  <a:srgbClr val="00B050"/>
                </a:solidFill>
              </a:rPr>
              <a:t>UC</a:t>
            </a:r>
            <a:r>
              <a:rPr lang="zh-CN" altLang="en-US" sz="2400" b="1">
                <a:solidFill>
                  <a:srgbClr val="00B050"/>
                </a:solidFill>
              </a:rPr>
              <a:t>，</a:t>
            </a:r>
            <a:r>
              <a:rPr lang="en-US" altLang="zh-CN" sz="2400" b="1">
                <a:solidFill>
                  <a:srgbClr val="00B050"/>
                </a:solidFill>
              </a:rPr>
              <a:t>WEB</a:t>
            </a:r>
            <a:r>
              <a:rPr lang="zh-CN" altLang="en-US" sz="2400" b="1">
                <a:solidFill>
                  <a:srgbClr val="00B050"/>
                </a:solidFill>
              </a:rPr>
              <a:t>站类如华军、游戏类如腾讯等），微博微信、精准广告、换量互推、换量互植、付费推广、注册返利、媒体报导、</a:t>
            </a:r>
            <a:r>
              <a:rPr lang="en-US" altLang="zh-CN" sz="2400" b="1">
                <a:solidFill>
                  <a:srgbClr val="00B050"/>
                </a:solidFill>
              </a:rPr>
              <a:t>SNS</a:t>
            </a:r>
            <a:r>
              <a:rPr lang="zh-CN" altLang="en-US" sz="2400" b="1">
                <a:solidFill>
                  <a:srgbClr val="00B050"/>
                </a:solidFill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6350000" y="3506788"/>
            <a:ext cx="2794000" cy="1055687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J</a:t>
            </a:r>
            <a:r>
              <a:rPr lang="zh-CN" altLang="en-US" b="1" dirty="0">
                <a:solidFill>
                  <a:srgbClr val="FF0000"/>
                </a:solidFill>
              </a:rPr>
              <a:t>：商家网站、游戏植入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K</a:t>
            </a:r>
            <a:r>
              <a:rPr lang="zh-CN" altLang="en-US" b="1" dirty="0">
                <a:solidFill>
                  <a:srgbClr val="FF0000"/>
                </a:solidFill>
              </a:rPr>
              <a:t>：手机话费充值优惠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497388" y="2006600"/>
            <a:ext cx="3062287" cy="1271588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F</a:t>
            </a:r>
            <a:r>
              <a:rPr lang="zh-CN" altLang="en-US" b="1" dirty="0">
                <a:solidFill>
                  <a:srgbClr val="FF0000"/>
                </a:solidFill>
              </a:rPr>
              <a:t>：安卓市场、豌豆荚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G</a:t>
            </a:r>
            <a:r>
              <a:rPr lang="zh-CN" altLang="en-US" b="1" dirty="0">
                <a:solidFill>
                  <a:srgbClr val="FF0000"/>
                </a:solidFill>
              </a:rPr>
              <a:t>：号百其它</a:t>
            </a:r>
            <a:r>
              <a:rPr lang="en-US" altLang="zh-CN" b="1" dirty="0">
                <a:solidFill>
                  <a:srgbClr val="FF0000"/>
                </a:solidFill>
              </a:rPr>
              <a:t>APP</a:t>
            </a:r>
            <a:r>
              <a:rPr lang="zh-CN" altLang="en-US" b="1" dirty="0">
                <a:solidFill>
                  <a:srgbClr val="FF0000"/>
                </a:solidFill>
              </a:rPr>
              <a:t>交叉植入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H</a:t>
            </a:r>
            <a:r>
              <a:rPr lang="zh-CN" altLang="en-US" b="1" dirty="0">
                <a:solidFill>
                  <a:srgbClr val="FF0000"/>
                </a:solidFill>
              </a:rPr>
              <a:t>：省级定制机植入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I</a:t>
            </a:r>
            <a:r>
              <a:rPr lang="zh-CN" altLang="en-US" b="1" dirty="0">
                <a:solidFill>
                  <a:srgbClr val="FF0000"/>
                </a:solidFill>
              </a:rPr>
              <a:t>：网厅</a:t>
            </a:r>
            <a:r>
              <a:rPr lang="en-US" altLang="zh-CN" b="1" dirty="0">
                <a:solidFill>
                  <a:srgbClr val="FF0000"/>
                </a:solidFill>
              </a:rPr>
              <a:t>/</a:t>
            </a:r>
            <a:r>
              <a:rPr lang="zh-CN" altLang="en-US" b="1" dirty="0">
                <a:solidFill>
                  <a:srgbClr val="FF0000"/>
                </a:solidFill>
              </a:rPr>
              <a:t>掌厅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42875" y="655638"/>
            <a:ext cx="4108450" cy="188595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：产品一期上线（</a:t>
            </a:r>
            <a:r>
              <a:rPr lang="en-US" altLang="zh-CN" b="1" dirty="0">
                <a:solidFill>
                  <a:srgbClr val="FF0000"/>
                </a:solidFill>
              </a:rPr>
              <a:t>Q</a:t>
            </a:r>
            <a:r>
              <a:rPr lang="zh-CN" altLang="en-US" b="1" dirty="0">
                <a:solidFill>
                  <a:srgbClr val="FF0000"/>
                </a:solidFill>
              </a:rPr>
              <a:t>币、</a:t>
            </a:r>
            <a:r>
              <a:rPr lang="en-US" altLang="zh-CN" b="1" dirty="0">
                <a:solidFill>
                  <a:srgbClr val="FF0000"/>
                </a:solidFill>
              </a:rPr>
              <a:t>V</a:t>
            </a:r>
            <a:r>
              <a:rPr lang="zh-CN" altLang="en-US" b="1" dirty="0">
                <a:solidFill>
                  <a:srgbClr val="FF0000"/>
                </a:solidFill>
              </a:rPr>
              <a:t>币、米币）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zh-CN" altLang="en-US" b="1" dirty="0">
                <a:solidFill>
                  <a:srgbClr val="FF0000"/>
                </a:solidFill>
              </a:rPr>
              <a:t>：百事通商城加载</a:t>
            </a:r>
            <a:r>
              <a:rPr lang="en-US" altLang="zh-CN" b="1" dirty="0">
                <a:solidFill>
                  <a:srgbClr val="FF0000"/>
                </a:solidFill>
              </a:rPr>
              <a:t>APP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zh-CN" altLang="en-US" b="1" dirty="0">
                <a:solidFill>
                  <a:srgbClr val="FF0000"/>
                </a:solidFill>
              </a:rPr>
              <a:t>：声讯系统语音提示和挂机短信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D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r>
              <a:rPr lang="en-US" altLang="zh-CN" b="1" dirty="0">
                <a:solidFill>
                  <a:srgbClr val="FF0000"/>
                </a:solidFill>
              </a:rPr>
              <a:t>114</a:t>
            </a:r>
            <a:r>
              <a:rPr lang="zh-CN" altLang="en-US" b="1" dirty="0">
                <a:solidFill>
                  <a:srgbClr val="FF0000"/>
                </a:solidFill>
              </a:rPr>
              <a:t>声讯系统语音提示和挂机短信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E</a:t>
            </a:r>
            <a:r>
              <a:rPr lang="zh-CN" altLang="en-US" b="1" dirty="0">
                <a:solidFill>
                  <a:srgbClr val="FF0000"/>
                </a:solidFill>
              </a:rPr>
              <a:t>：充值优惠</a:t>
            </a:r>
            <a:endParaRPr lang="zh-CN" altLang="en-US" dirty="0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58738" y="558800"/>
            <a:ext cx="5676900" cy="34925"/>
          </a:xfrm>
          <a:prstGeom prst="line">
            <a:avLst/>
          </a:prstGeom>
          <a:ln w="107950" cap="rnd" cmpd="sng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40000" dist="20000" dir="5400000" rotWithShape="0">
              <a:schemeClr val="accent6">
                <a:lumMod val="60000"/>
                <a:lumOff val="40000"/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49" name="TextBox 11"/>
          <p:cNvSpPr txBox="1">
            <a:spLocks noChangeArrowheads="1"/>
          </p:cNvSpPr>
          <p:nvPr/>
        </p:nvSpPr>
        <p:spPr bwMode="auto">
          <a:xfrm>
            <a:off x="23813" y="34925"/>
            <a:ext cx="37909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990033"/>
                </a:solidFill>
              </a:rPr>
              <a:t>推广营销阶段（一期）</a:t>
            </a:r>
          </a:p>
        </p:txBody>
      </p:sp>
      <p:sp>
        <p:nvSpPr>
          <p:cNvPr id="57350" name="TextBox 18"/>
          <p:cNvSpPr txBox="1">
            <a:spLocks noChangeArrowheads="1"/>
          </p:cNvSpPr>
          <p:nvPr/>
        </p:nvSpPr>
        <p:spPr bwMode="auto">
          <a:xfrm>
            <a:off x="6353175" y="914400"/>
            <a:ext cx="184150" cy="103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endParaRPr lang="en-US" altLang="zh-CN" b="1">
              <a:solidFill>
                <a:srgbClr val="FFFF00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b="1">
              <a:solidFill>
                <a:srgbClr val="00B050"/>
              </a:solidFill>
            </a:endParaRPr>
          </a:p>
          <a:p>
            <a:endParaRPr lang="zh-CN" altLang="en-US"/>
          </a:p>
        </p:txBody>
      </p:sp>
      <p:sp>
        <p:nvSpPr>
          <p:cNvPr id="20" name="上弧形箭头 19"/>
          <p:cNvSpPr/>
          <p:nvPr/>
        </p:nvSpPr>
        <p:spPr>
          <a:xfrm rot="1754158">
            <a:off x="4394200" y="925513"/>
            <a:ext cx="1222375" cy="903287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上弧形箭头 20"/>
          <p:cNvSpPr/>
          <p:nvPr/>
        </p:nvSpPr>
        <p:spPr>
          <a:xfrm rot="3674473">
            <a:off x="7693819" y="2375694"/>
            <a:ext cx="1223962" cy="901700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573588" y="4708525"/>
            <a:ext cx="1760537" cy="625475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L</a:t>
            </a:r>
            <a:r>
              <a:rPr lang="zh-CN" altLang="en-US" b="1" dirty="0">
                <a:solidFill>
                  <a:srgbClr val="FF0000"/>
                </a:solidFill>
              </a:rPr>
              <a:t>：二期规划</a:t>
            </a:r>
          </a:p>
        </p:txBody>
      </p:sp>
      <p:sp>
        <p:nvSpPr>
          <p:cNvPr id="24" name="左弧形箭头 23"/>
          <p:cNvSpPr/>
          <p:nvPr/>
        </p:nvSpPr>
        <p:spPr>
          <a:xfrm rot="2879564">
            <a:off x="5227638" y="3638550"/>
            <a:ext cx="898525" cy="962025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文本框 7"/>
          <p:cNvSpPr txBox="1">
            <a:spLocks noChangeArrowheads="1"/>
          </p:cNvSpPr>
          <p:nvPr/>
        </p:nvSpPr>
        <p:spPr bwMode="auto">
          <a:xfrm>
            <a:off x="495300" y="1047750"/>
            <a:ext cx="3024188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kumimoji="1" lang="zh-CN" altLang="en-US" sz="60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华文楷体" pitchFamily="2" charset="-122"/>
              </a:rPr>
              <a:t>谢  谢！</a:t>
            </a:r>
          </a:p>
        </p:txBody>
      </p:sp>
      <p:pic>
        <p:nvPicPr>
          <p:cNvPr id="58370" name="Picture 14" descr="target_path_q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68713" y="1047750"/>
            <a:ext cx="4622800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1" name="Picture 15" descr="target_path_sld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2875" y="1333500"/>
            <a:ext cx="4052888" cy="307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3" descr="target_path_prt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64013" y="1543050"/>
            <a:ext cx="3652837" cy="25019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</p:pic>
      <p:sp>
        <p:nvSpPr>
          <p:cNvPr id="58373" name="Rectangle 19"/>
          <p:cNvSpPr>
            <a:spLocks noChangeArrowheads="1"/>
          </p:cNvSpPr>
          <p:nvPr/>
        </p:nvSpPr>
        <p:spPr bwMode="auto">
          <a:xfrm>
            <a:off x="4164013" y="1911350"/>
            <a:ext cx="3652837" cy="200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杭州冉思科技有限公司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地址：杭州市西园八路</a:t>
            </a:r>
            <a:r>
              <a:rPr lang="en-US" altLang="zh-CN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号</a:t>
            </a:r>
            <a:endParaRPr lang="en-US" altLang="zh-CN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　　　银江软件园</a:t>
            </a:r>
            <a:r>
              <a:rPr lang="en-US" altLang="zh-CN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C</a:t>
            </a:r>
            <a:r>
              <a:rPr lang="zh-CN" altLang="en-US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座</a:t>
            </a:r>
            <a:r>
              <a:rPr lang="en-US" altLang="zh-CN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lang="zh-CN" altLang="en-US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楼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邮编：3100</a:t>
            </a:r>
            <a:r>
              <a:rPr lang="en-US" altLang="zh-CN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30</a:t>
            </a:r>
            <a:endParaRPr lang="zh-CN" altLang="en-US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电话：0571-8</a:t>
            </a:r>
            <a:r>
              <a:rPr lang="en-US" altLang="zh-CN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9738822</a:t>
            </a:r>
            <a:endParaRPr lang="zh-CN" altLang="en-US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传真：0571-8</a:t>
            </a:r>
            <a:r>
              <a:rPr lang="en-US" altLang="zh-CN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9738833</a:t>
            </a:r>
            <a:endParaRPr lang="zh-CN" altLang="en-US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</a:pPr>
            <a:endParaRPr lang="zh-CN" altLang="en-US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办公室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5206</TotalTime>
  <Words>1046</Words>
  <Application>Microsoft Office PowerPoint</Application>
  <PresentationFormat>全屏显示(16:10)</PresentationFormat>
  <Paragraphs>162</Paragraphs>
  <Slides>28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Arial</vt:lpstr>
      <vt:lpstr>宋体</vt:lpstr>
      <vt:lpstr>Calibri</vt:lpstr>
      <vt:lpstr>黑体</vt:lpstr>
      <vt:lpstr>微软雅黑</vt:lpstr>
      <vt:lpstr>Wingdings</vt:lpstr>
      <vt:lpstr>华文仿宋</vt:lpstr>
      <vt:lpstr>华文中宋</vt:lpstr>
      <vt:lpstr>华文楷体</vt:lpstr>
      <vt:lpstr>Office 主题</vt:lpstr>
      <vt:lpstr>Visio</vt:lpstr>
      <vt:lpstr>手机小额支付平台运营方案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小额支付平台（模块划分）</vt:lpstr>
      <vt:lpstr>运营管理平台（模块划分）</vt:lpstr>
      <vt:lpstr>幻灯片 24</vt:lpstr>
      <vt:lpstr>幻灯片 25</vt:lpstr>
      <vt:lpstr>幻灯片 26</vt:lpstr>
      <vt:lpstr>幻灯片 27</vt:lpstr>
      <vt:lpstr>幻灯片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outline</dc:creator>
  <cp:lastModifiedBy>王强</cp:lastModifiedBy>
  <cp:revision>738</cp:revision>
  <dcterms:created xsi:type="dcterms:W3CDTF">2012-12-12T11:46:00Z</dcterms:created>
  <dcterms:modified xsi:type="dcterms:W3CDTF">2013-07-30T02:01:56Z</dcterms:modified>
</cp:coreProperties>
</file>